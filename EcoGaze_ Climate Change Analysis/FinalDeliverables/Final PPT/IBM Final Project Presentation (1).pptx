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hZnAA6tazyE6GOHAPeJjqJPGO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4"/>
          <p:cNvSpPr txBox="1"/>
          <p:nvPr>
            <p:ph type="title"/>
          </p:nvPr>
        </p:nvSpPr>
        <p:spPr>
          <a:xfrm>
            <a:off x="260825" y="212030"/>
            <a:ext cx="8622349" cy="2997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body"/>
          </p:nvPr>
        </p:nvSpPr>
        <p:spPr>
          <a:xfrm>
            <a:off x="457200" y="1183005"/>
            <a:ext cx="822960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
        <p:nvSpPr>
          <p:cNvPr id="18" name="Google Shape;18;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16"/>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 name="Shape 27"/>
        <p:cNvGrpSpPr/>
        <p:nvPr/>
      </p:nvGrpSpPr>
      <p:grpSpPr>
        <a:xfrm>
          <a:off x="0" y="0"/>
          <a:ext cx="0" cy="0"/>
          <a:chOff x="0" y="0"/>
          <a:chExt cx="0" cy="0"/>
        </a:xfrm>
      </p:grpSpPr>
      <p:sp>
        <p:nvSpPr>
          <p:cNvPr id="28" name="Google Shape;28;p17"/>
          <p:cNvSpPr txBox="1"/>
          <p:nvPr>
            <p:ph type="title"/>
          </p:nvPr>
        </p:nvSpPr>
        <p:spPr>
          <a:xfrm>
            <a:off x="260825" y="212030"/>
            <a:ext cx="8622349" cy="2997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17"/>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18"/>
          <p:cNvSpPr txBox="1"/>
          <p:nvPr>
            <p:ph type="title"/>
          </p:nvPr>
        </p:nvSpPr>
        <p:spPr>
          <a:xfrm>
            <a:off x="260825" y="212030"/>
            <a:ext cx="8622349" cy="2997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260825" y="212030"/>
            <a:ext cx="8622349" cy="29972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183005"/>
            <a:ext cx="8229600" cy="339471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1.png"/><Relationship Id="rId6"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1"/>
          <p:cNvSpPr/>
          <p:nvPr/>
        </p:nvSpPr>
        <p:spPr>
          <a:xfrm>
            <a:off x="0" y="-50579"/>
            <a:ext cx="9144000" cy="2047239"/>
          </a:xfrm>
          <a:custGeom>
            <a:rect b="b" l="l" r="r" t="t"/>
            <a:pathLst>
              <a:path extrusionOk="0" h="2047239" w="9144000">
                <a:moveTo>
                  <a:pt x="0" y="2046774"/>
                </a:moveTo>
                <a:lnTo>
                  <a:pt x="9143999" y="2046774"/>
                </a:lnTo>
                <a:lnTo>
                  <a:pt x="9143999" y="0"/>
                </a:lnTo>
                <a:lnTo>
                  <a:pt x="0" y="0"/>
                </a:lnTo>
                <a:lnTo>
                  <a:pt x="0" y="2046774"/>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1"/>
          <p:cNvSpPr/>
          <p:nvPr/>
        </p:nvSpPr>
        <p:spPr>
          <a:xfrm>
            <a:off x="0" y="4978524"/>
            <a:ext cx="9144000" cy="165100"/>
          </a:xfrm>
          <a:custGeom>
            <a:rect b="b" l="l" r="r" t="t"/>
            <a:pathLst>
              <a:path extrusionOk="0" h="165100" w="9144000">
                <a:moveTo>
                  <a:pt x="0" y="164974"/>
                </a:moveTo>
                <a:lnTo>
                  <a:pt x="9143999" y="164974"/>
                </a:lnTo>
                <a:lnTo>
                  <a:pt x="9143999" y="0"/>
                </a:lnTo>
                <a:lnTo>
                  <a:pt x="0" y="0"/>
                </a:lnTo>
                <a:lnTo>
                  <a:pt x="0" y="164974"/>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1"/>
          <p:cNvSpPr txBox="1"/>
          <p:nvPr>
            <p:ph type="title"/>
          </p:nvPr>
        </p:nvSpPr>
        <p:spPr>
          <a:xfrm>
            <a:off x="281700" y="920465"/>
            <a:ext cx="47028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solidFill>
                  <a:srgbClr val="FFFFFF"/>
                </a:solidFill>
              </a:rPr>
              <a:t>Data Analytics Internship Program 2024</a:t>
            </a:r>
            <a:endParaRPr sz="2000"/>
          </a:p>
        </p:txBody>
      </p:sp>
      <p:sp>
        <p:nvSpPr>
          <p:cNvPr id="46" name="Google Shape;46;p1"/>
          <p:cNvSpPr txBox="1"/>
          <p:nvPr/>
        </p:nvSpPr>
        <p:spPr>
          <a:xfrm>
            <a:off x="281700" y="1378680"/>
            <a:ext cx="273304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Verdana"/>
                <a:ea typeface="Verdana"/>
                <a:cs typeface="Verdana"/>
                <a:sym typeface="Verdana"/>
              </a:rPr>
              <a:t>Final Project Presentation</a:t>
            </a:r>
            <a:endParaRPr sz="1800">
              <a:solidFill>
                <a:schemeClr val="dk1"/>
              </a:solidFill>
              <a:latin typeface="Verdana"/>
              <a:ea typeface="Verdana"/>
              <a:cs typeface="Verdana"/>
              <a:sym typeface="Verdana"/>
            </a:endParaRPr>
          </a:p>
        </p:txBody>
      </p:sp>
      <p:sp>
        <p:nvSpPr>
          <p:cNvPr id="47" name="Google Shape;47;p1"/>
          <p:cNvSpPr txBox="1"/>
          <p:nvPr/>
        </p:nvSpPr>
        <p:spPr>
          <a:xfrm>
            <a:off x="4407425" y="115046"/>
            <a:ext cx="4572635"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600">
                <a:solidFill>
                  <a:srgbClr val="FFFFFF"/>
                </a:solidFill>
                <a:latin typeface="Verdana"/>
                <a:ea typeface="Verdana"/>
                <a:cs typeface="Verdana"/>
                <a:sym typeface="Verdana"/>
              </a:rPr>
              <a:t>IBM SkillsBuild for Adult Learners - Data Analytics</a:t>
            </a:r>
            <a:endParaRPr sz="1600">
              <a:solidFill>
                <a:schemeClr val="dk1"/>
              </a:solidFill>
              <a:latin typeface="Verdana"/>
              <a:ea typeface="Verdana"/>
              <a:cs typeface="Verdana"/>
              <a:sym typeface="Verdana"/>
            </a:endParaRPr>
          </a:p>
        </p:txBody>
      </p:sp>
      <p:sp>
        <p:nvSpPr>
          <p:cNvPr id="48" name="Google Shape;48;p1"/>
          <p:cNvSpPr/>
          <p:nvPr/>
        </p:nvSpPr>
        <p:spPr>
          <a:xfrm>
            <a:off x="0" y="2037757"/>
            <a:ext cx="9144000" cy="2076450"/>
          </a:xfrm>
          <a:custGeom>
            <a:rect b="b" l="l" r="r" t="t"/>
            <a:pathLst>
              <a:path extrusionOk="0" h="2076450" w="9144000">
                <a:moveTo>
                  <a:pt x="0" y="0"/>
                </a:moveTo>
                <a:lnTo>
                  <a:pt x="9143999" y="0"/>
                </a:lnTo>
                <a:lnTo>
                  <a:pt x="9143999" y="2076299"/>
                </a:lnTo>
                <a:lnTo>
                  <a:pt x="0" y="2076299"/>
                </a:lnTo>
                <a:lnTo>
                  <a:pt x="0" y="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1"/>
          <p:cNvSpPr txBox="1"/>
          <p:nvPr/>
        </p:nvSpPr>
        <p:spPr>
          <a:xfrm>
            <a:off x="2133600" y="2554610"/>
            <a:ext cx="1314450" cy="1012190"/>
          </a:xfrm>
          <a:prstGeom prst="rect">
            <a:avLst/>
          </a:prstGeom>
          <a:noFill/>
          <a:ln>
            <a:noFill/>
          </a:ln>
        </p:spPr>
        <p:txBody>
          <a:bodyPr anchorCtr="0" anchor="t" bIns="0" lIns="0" spcFirstLastPara="1" rIns="0" wrap="square" tIns="8875">
            <a:spAutoFit/>
          </a:bodyPr>
          <a:lstStyle/>
          <a:p>
            <a:pPr indent="0" lvl="0" marL="12700" marR="5080" rtl="0" algn="l">
              <a:lnSpc>
                <a:spcPct val="101600"/>
              </a:lnSpc>
              <a:spcBef>
                <a:spcPts val="0"/>
              </a:spcBef>
              <a:spcAft>
                <a:spcPts val="0"/>
              </a:spcAft>
              <a:buNone/>
            </a:pPr>
            <a:r>
              <a:rPr lang="en-US" sz="1600">
                <a:solidFill>
                  <a:schemeClr val="dk1"/>
                </a:solidFill>
                <a:latin typeface="Verdana"/>
                <a:ea typeface="Verdana"/>
                <a:cs typeface="Verdana"/>
                <a:sym typeface="Verdana"/>
              </a:rPr>
              <a:t>Project Name  Unique ID  Team Name  College Name</a:t>
            </a:r>
            <a:endParaRPr sz="1600">
              <a:solidFill>
                <a:schemeClr val="dk1"/>
              </a:solidFill>
              <a:latin typeface="Verdana"/>
              <a:ea typeface="Verdana"/>
              <a:cs typeface="Verdana"/>
              <a:sym typeface="Verdana"/>
            </a:endParaRPr>
          </a:p>
        </p:txBody>
      </p:sp>
      <p:sp>
        <p:nvSpPr>
          <p:cNvPr id="50" name="Google Shape;50;p1"/>
          <p:cNvSpPr txBox="1"/>
          <p:nvPr/>
        </p:nvSpPr>
        <p:spPr>
          <a:xfrm>
            <a:off x="3657600" y="2532276"/>
            <a:ext cx="88900" cy="101219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600">
                <a:solidFill>
                  <a:schemeClr val="dk1"/>
                </a:solidFill>
                <a:latin typeface="Verdana"/>
                <a:ea typeface="Verdana"/>
                <a:cs typeface="Verdana"/>
                <a:sym typeface="Verdana"/>
              </a:rPr>
              <a:t>:</a:t>
            </a:r>
            <a:endParaRPr sz="1600">
              <a:solidFill>
                <a:schemeClr val="dk1"/>
              </a:solidFill>
              <a:latin typeface="Verdana"/>
              <a:ea typeface="Verdana"/>
              <a:cs typeface="Verdana"/>
              <a:sym typeface="Verdana"/>
            </a:endParaRPr>
          </a:p>
          <a:p>
            <a:pPr indent="0" lvl="0" marL="12700" marR="0" rtl="0" algn="l">
              <a:lnSpc>
                <a:spcPct val="100000"/>
              </a:lnSpc>
              <a:spcBef>
                <a:spcPts val="30"/>
              </a:spcBef>
              <a:spcAft>
                <a:spcPts val="0"/>
              </a:spcAft>
              <a:buNone/>
            </a:pPr>
            <a:r>
              <a:rPr lang="en-US" sz="1600">
                <a:solidFill>
                  <a:schemeClr val="dk1"/>
                </a:solidFill>
                <a:latin typeface="Verdana"/>
                <a:ea typeface="Verdana"/>
                <a:cs typeface="Verdana"/>
                <a:sym typeface="Verdana"/>
              </a:rPr>
              <a:t>:</a:t>
            </a:r>
            <a:endParaRPr sz="1600">
              <a:solidFill>
                <a:schemeClr val="dk1"/>
              </a:solidFill>
              <a:latin typeface="Verdana"/>
              <a:ea typeface="Verdana"/>
              <a:cs typeface="Verdana"/>
              <a:sym typeface="Verdana"/>
            </a:endParaRPr>
          </a:p>
          <a:p>
            <a:pPr indent="0" lvl="0" marL="12700" marR="0" rtl="0" algn="l">
              <a:lnSpc>
                <a:spcPct val="100000"/>
              </a:lnSpc>
              <a:spcBef>
                <a:spcPts val="30"/>
              </a:spcBef>
              <a:spcAft>
                <a:spcPts val="0"/>
              </a:spcAft>
              <a:buNone/>
            </a:pPr>
            <a:r>
              <a:rPr lang="en-US" sz="1600">
                <a:solidFill>
                  <a:schemeClr val="dk1"/>
                </a:solidFill>
                <a:latin typeface="Verdana"/>
                <a:ea typeface="Verdana"/>
                <a:cs typeface="Verdana"/>
                <a:sym typeface="Verdana"/>
              </a:rPr>
              <a:t>:</a:t>
            </a:r>
            <a:endParaRPr sz="1600">
              <a:solidFill>
                <a:schemeClr val="dk1"/>
              </a:solidFill>
              <a:latin typeface="Verdana"/>
              <a:ea typeface="Verdana"/>
              <a:cs typeface="Verdana"/>
              <a:sym typeface="Verdana"/>
            </a:endParaRPr>
          </a:p>
          <a:p>
            <a:pPr indent="0" lvl="0" marL="12700" marR="0" rtl="0" algn="l">
              <a:lnSpc>
                <a:spcPct val="100000"/>
              </a:lnSpc>
              <a:spcBef>
                <a:spcPts val="30"/>
              </a:spcBef>
              <a:spcAft>
                <a:spcPts val="0"/>
              </a:spcAft>
              <a:buNone/>
            </a:pPr>
            <a:r>
              <a:rPr lang="en-US" sz="1600">
                <a:solidFill>
                  <a:schemeClr val="dk1"/>
                </a:solidFill>
                <a:latin typeface="Verdana"/>
                <a:ea typeface="Verdana"/>
                <a:cs typeface="Verdana"/>
                <a:sym typeface="Verdana"/>
              </a:rPr>
              <a:t>:</a:t>
            </a:r>
            <a:endParaRPr sz="1600">
              <a:solidFill>
                <a:schemeClr val="dk1"/>
              </a:solidFill>
              <a:latin typeface="Verdana"/>
              <a:ea typeface="Verdana"/>
              <a:cs typeface="Verdana"/>
              <a:sym typeface="Verdana"/>
            </a:endParaRPr>
          </a:p>
        </p:txBody>
      </p:sp>
      <p:grpSp>
        <p:nvGrpSpPr>
          <p:cNvPr id="51" name="Google Shape;51;p1"/>
          <p:cNvGrpSpPr/>
          <p:nvPr/>
        </p:nvGrpSpPr>
        <p:grpSpPr>
          <a:xfrm>
            <a:off x="313000" y="1316674"/>
            <a:ext cx="6969759" cy="31750"/>
            <a:chOff x="313000" y="1316674"/>
            <a:chExt cx="6969759" cy="31750"/>
          </a:xfrm>
        </p:grpSpPr>
        <p:sp>
          <p:nvSpPr>
            <p:cNvPr id="52" name="Google Shape;52;p1"/>
            <p:cNvSpPr/>
            <p:nvPr/>
          </p:nvSpPr>
          <p:spPr>
            <a:xfrm>
              <a:off x="313000" y="1316674"/>
              <a:ext cx="6969759" cy="31750"/>
            </a:xfrm>
            <a:custGeom>
              <a:rect b="b" l="l" r="r" t="t"/>
              <a:pathLst>
                <a:path extrusionOk="0" h="31750" w="6969759">
                  <a:moveTo>
                    <a:pt x="6969299" y="31199"/>
                  </a:moveTo>
                  <a:lnTo>
                    <a:pt x="0" y="31199"/>
                  </a:lnTo>
                  <a:lnTo>
                    <a:pt x="0" y="0"/>
                  </a:lnTo>
                  <a:lnTo>
                    <a:pt x="6969299" y="0"/>
                  </a:lnTo>
                  <a:lnTo>
                    <a:pt x="6969299" y="3119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1"/>
            <p:cNvSpPr/>
            <p:nvPr/>
          </p:nvSpPr>
          <p:spPr>
            <a:xfrm>
              <a:off x="313000" y="1316674"/>
              <a:ext cx="6969759" cy="31750"/>
            </a:xfrm>
            <a:custGeom>
              <a:rect b="b" l="l" r="r" t="t"/>
              <a:pathLst>
                <a:path extrusionOk="0" h="31750" w="6969759">
                  <a:moveTo>
                    <a:pt x="0" y="0"/>
                  </a:moveTo>
                  <a:lnTo>
                    <a:pt x="6969299" y="0"/>
                  </a:lnTo>
                  <a:lnTo>
                    <a:pt x="6969299" y="31199"/>
                  </a:lnTo>
                  <a:lnTo>
                    <a:pt x="0" y="31199"/>
                  </a:lnTo>
                  <a:lnTo>
                    <a:pt x="0" y="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 name="Google Shape;54;p1"/>
          <p:cNvGrpSpPr/>
          <p:nvPr/>
        </p:nvGrpSpPr>
        <p:grpSpPr>
          <a:xfrm>
            <a:off x="-2" y="4013642"/>
            <a:ext cx="9144000" cy="960119"/>
            <a:chOff x="0" y="4018824"/>
            <a:chExt cx="9144000" cy="960119"/>
          </a:xfrm>
        </p:grpSpPr>
        <p:sp>
          <p:nvSpPr>
            <p:cNvPr id="55" name="Google Shape;55;p1"/>
            <p:cNvSpPr/>
            <p:nvPr/>
          </p:nvSpPr>
          <p:spPr>
            <a:xfrm>
              <a:off x="0" y="4018824"/>
              <a:ext cx="9144000" cy="960119"/>
            </a:xfrm>
            <a:custGeom>
              <a:rect b="b" l="l" r="r" t="t"/>
              <a:pathLst>
                <a:path extrusionOk="0" h="960120" w="9144000">
                  <a:moveTo>
                    <a:pt x="9143999" y="959699"/>
                  </a:moveTo>
                  <a:lnTo>
                    <a:pt x="0" y="959699"/>
                  </a:lnTo>
                  <a:lnTo>
                    <a:pt x="0" y="0"/>
                  </a:lnTo>
                  <a:lnTo>
                    <a:pt x="9143999" y="0"/>
                  </a:lnTo>
                  <a:lnTo>
                    <a:pt x="9143999" y="95969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1"/>
            <p:cNvSpPr/>
            <p:nvPr/>
          </p:nvSpPr>
          <p:spPr>
            <a:xfrm>
              <a:off x="0" y="4018824"/>
              <a:ext cx="9144000" cy="960119"/>
            </a:xfrm>
            <a:custGeom>
              <a:rect b="b" l="l" r="r" t="t"/>
              <a:pathLst>
                <a:path extrusionOk="0" h="960120" w="9144000">
                  <a:moveTo>
                    <a:pt x="0" y="0"/>
                  </a:moveTo>
                  <a:lnTo>
                    <a:pt x="9143999" y="0"/>
                  </a:lnTo>
                  <a:lnTo>
                    <a:pt x="9143999" y="959699"/>
                  </a:lnTo>
                  <a:lnTo>
                    <a:pt x="0" y="959699"/>
                  </a:lnTo>
                  <a:lnTo>
                    <a:pt x="0" y="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7282300" y="4288751"/>
              <a:ext cx="1711123" cy="584849"/>
            </a:xfrm>
            <a:prstGeom prst="rect">
              <a:avLst/>
            </a:prstGeom>
            <a:noFill/>
            <a:ln>
              <a:noFill/>
            </a:ln>
          </p:spPr>
        </p:pic>
      </p:grpSp>
      <p:sp>
        <p:nvSpPr>
          <p:cNvPr id="58" name="Google Shape;58;p1"/>
          <p:cNvSpPr txBox="1"/>
          <p:nvPr/>
        </p:nvSpPr>
        <p:spPr>
          <a:xfrm>
            <a:off x="3956050" y="2518361"/>
            <a:ext cx="4044900" cy="1397700"/>
          </a:xfrm>
          <a:prstGeom prst="rect">
            <a:avLst/>
          </a:prstGeom>
          <a:noFill/>
          <a:ln>
            <a:noFill/>
          </a:ln>
        </p:spPr>
        <p:txBody>
          <a:bodyPr anchorCtr="0" anchor="t" bIns="45700" lIns="91425" spcFirstLastPara="1" rIns="91425" wrap="square" tIns="45700">
            <a:spAutoFit/>
          </a:bodyPr>
          <a:lstStyle/>
          <a:p>
            <a:pPr indent="0" lvl="0" marL="12700" marR="5080" rtl="0" algn="l">
              <a:lnSpc>
                <a:spcPct val="101600"/>
              </a:lnSpc>
              <a:spcBef>
                <a:spcPts val="0"/>
              </a:spcBef>
              <a:spcAft>
                <a:spcPts val="0"/>
              </a:spcAft>
              <a:buNone/>
            </a:pPr>
            <a:r>
              <a:rPr lang="en-US" sz="1600">
                <a:solidFill>
                  <a:schemeClr val="dk1"/>
                </a:solidFill>
                <a:latin typeface="Verdana"/>
                <a:ea typeface="Verdana"/>
                <a:cs typeface="Verdana"/>
                <a:sym typeface="Verdana"/>
              </a:rPr>
              <a:t>EcoGaze:</a:t>
            </a:r>
            <a:r>
              <a:rPr lang="en-US" sz="1600">
                <a:solidFill>
                  <a:schemeClr val="dk1"/>
                </a:solidFill>
                <a:latin typeface="Verdana"/>
                <a:ea typeface="Verdana"/>
                <a:cs typeface="Verdana"/>
                <a:sym typeface="Verdana"/>
              </a:rPr>
              <a:t>Climate Change Analysis </a:t>
            </a:r>
            <a:endParaRPr/>
          </a:p>
          <a:p>
            <a:pPr indent="0" lvl="0" marL="12700" marR="5080" rtl="0" algn="l">
              <a:lnSpc>
                <a:spcPct val="101600"/>
              </a:lnSpc>
              <a:spcBef>
                <a:spcPts val="70"/>
              </a:spcBef>
              <a:spcAft>
                <a:spcPts val="0"/>
              </a:spcAft>
              <a:buNone/>
            </a:pPr>
            <a:r>
              <a:rPr lang="en-US" sz="1800">
                <a:solidFill>
                  <a:schemeClr val="dk1"/>
                </a:solidFill>
                <a:latin typeface="Calibri"/>
                <a:ea typeface="Calibri"/>
                <a:cs typeface="Calibri"/>
                <a:sym typeface="Calibri"/>
              </a:rPr>
              <a:t>IBM0090</a:t>
            </a:r>
            <a:endParaRPr/>
          </a:p>
          <a:p>
            <a:pPr indent="0" lvl="0" marL="12700" marR="5080" rtl="0" algn="l">
              <a:lnSpc>
                <a:spcPct val="101600"/>
              </a:lnSpc>
              <a:spcBef>
                <a:spcPts val="70"/>
              </a:spcBef>
              <a:spcAft>
                <a:spcPts val="0"/>
              </a:spcAft>
              <a:buNone/>
            </a:pPr>
            <a:r>
              <a:rPr lang="en-US" sz="1600">
                <a:solidFill>
                  <a:schemeClr val="dk1"/>
                </a:solidFill>
                <a:latin typeface="Verdana"/>
                <a:ea typeface="Verdana"/>
                <a:cs typeface="Verdana"/>
                <a:sym typeface="Verdana"/>
              </a:rPr>
              <a:t>Hackthic</a:t>
            </a:r>
            <a:endParaRPr sz="1600">
              <a:solidFill>
                <a:schemeClr val="dk1"/>
              </a:solidFill>
              <a:latin typeface="Verdana"/>
              <a:ea typeface="Verdana"/>
              <a:cs typeface="Verdana"/>
              <a:sym typeface="Verdana"/>
            </a:endParaRPr>
          </a:p>
          <a:p>
            <a:pPr indent="0" lvl="0" marL="12700" marR="5080" rtl="0" algn="l">
              <a:lnSpc>
                <a:spcPct val="101600"/>
              </a:lnSpc>
              <a:spcBef>
                <a:spcPts val="70"/>
              </a:spcBef>
              <a:spcAft>
                <a:spcPts val="0"/>
              </a:spcAft>
              <a:buNone/>
            </a:pPr>
            <a:r>
              <a:rPr lang="en-US" sz="1600">
                <a:solidFill>
                  <a:schemeClr val="dk1"/>
                </a:solidFill>
                <a:latin typeface="Verdana"/>
                <a:ea typeface="Verdana"/>
                <a:cs typeface="Verdana"/>
                <a:sym typeface="Verdana"/>
              </a:rPr>
              <a:t>Ajay Kumar Garg Engineering College</a:t>
            </a:r>
            <a:endParaRPr sz="16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
                                        </p:tgtEl>
                                        <p:attrNameLst>
                                          <p:attrName>style.visibility</p:attrName>
                                        </p:attrNameLst>
                                      </p:cBhvr>
                                      <p:to>
                                        <p:strVal val="visible"/>
                                      </p:to>
                                    </p:set>
                                    <p:animEffect filter="fade" transition="in">
                                      <p:cBhvr>
                                        <p:cTn dur="1000"/>
                                        <p:tgtEl>
                                          <p:spTgt spid="45"/>
                                        </p:tgtEl>
                                      </p:cBhvr>
                                    </p:animEffect>
                                  </p:childTnLst>
                                </p:cTn>
                              </p:par>
                              <p:par>
                                <p:cTn fill="hold" nodeType="withEffect" presetClass="entr" presetID="10" presetSubtype="0">
                                  <p:stCondLst>
                                    <p:cond delay="0"/>
                                  </p:stCondLst>
                                  <p:childTnLst>
                                    <p:set>
                                      <p:cBhvr>
                                        <p:cTn dur="1" fill="hold">
                                          <p:stCondLst>
                                            <p:cond delay="0"/>
                                          </p:stCondLst>
                                        </p:cTn>
                                        <p:tgtEl>
                                          <p:spTgt spid="46"/>
                                        </p:tgtEl>
                                        <p:attrNameLst>
                                          <p:attrName>style.visibility</p:attrName>
                                        </p:attrNameLst>
                                      </p:cBhvr>
                                      <p:to>
                                        <p:strVal val="visible"/>
                                      </p:to>
                                    </p:set>
                                    <p:animEffect filter="fade" transition="in">
                                      <p:cBhvr>
                                        <p:cTn dur="1000"/>
                                        <p:tgtEl>
                                          <p:spTgt spid="46"/>
                                        </p:tgtEl>
                                      </p:cBhvr>
                                    </p:animEffect>
                                  </p:childTnLst>
                                </p:cTn>
                              </p:par>
                              <p:par>
                                <p:cTn fill="hold" nodeType="with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1000"/>
                                        <p:tgtEl>
                                          <p:spTgt spid="48"/>
                                        </p:tgtEl>
                                      </p:cBhvr>
                                    </p:animEffect>
                                  </p:childTnLst>
                                </p:cTn>
                              </p:par>
                              <p:par>
                                <p:cTn fill="hold" nodeType="with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1000"/>
                                        <p:tgtEl>
                                          <p:spTgt spid="49"/>
                                        </p:tgtEl>
                                      </p:cBhvr>
                                    </p:animEffect>
                                  </p:childTnLst>
                                </p:cTn>
                              </p:par>
                              <p:par>
                                <p:cTn fill="hold" nodeType="withEffect" presetClass="entr" presetID="10" presetSubtype="0">
                                  <p:stCondLst>
                                    <p:cond delay="0"/>
                                  </p:stCondLst>
                                  <p:childTnLst>
                                    <p:set>
                                      <p:cBhvr>
                                        <p:cTn dur="1" fill="hold">
                                          <p:stCondLst>
                                            <p:cond delay="0"/>
                                          </p:stCondLst>
                                        </p:cTn>
                                        <p:tgtEl>
                                          <p:spTgt spid="50"/>
                                        </p:tgtEl>
                                        <p:attrNameLst>
                                          <p:attrName>style.visibility</p:attrName>
                                        </p:attrNameLst>
                                      </p:cBhvr>
                                      <p:to>
                                        <p:strVal val="visible"/>
                                      </p:to>
                                    </p:set>
                                    <p:animEffect filter="fade" transition="in">
                                      <p:cBhvr>
                                        <p:cTn dur="1000"/>
                                        <p:tgtEl>
                                          <p:spTgt spid="50"/>
                                        </p:tgtEl>
                                      </p:cBhvr>
                                    </p:animEffect>
                                  </p:childTnLst>
                                </p:cTn>
                              </p:par>
                              <p:par>
                                <p:cTn fill="hold" nodeType="with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1000"/>
                                        <p:tgtEl>
                                          <p:spTgt spid="51"/>
                                        </p:tgtEl>
                                      </p:cBhvr>
                                    </p:animEffect>
                                  </p:childTnLst>
                                </p:cTn>
                              </p:par>
                              <p:par>
                                <p:cTn fill="hold" nodeType="with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1000"/>
                                        <p:tgtEl>
                                          <p:spTgt spid="54"/>
                                        </p:tgtEl>
                                      </p:cBhvr>
                                    </p:animEffect>
                                  </p:childTnLst>
                                </p:cTn>
                              </p:par>
                              <p:par>
                                <p:cTn fill="hold" nodeType="with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1000"/>
                                        <p:tgtEl>
                                          <p:spTgt spid="58"/>
                                        </p:tgtEl>
                                      </p:cBhvr>
                                    </p:animEffect>
                                  </p:childTnLst>
                                </p:cTn>
                              </p:par>
                              <p:par>
                                <p:cTn fill="hold" nodeType="with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1000"/>
                                        <p:tgtEl>
                                          <p:spTgt spid="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 name="Shape 62"/>
        <p:cNvGrpSpPr/>
        <p:nvPr/>
      </p:nvGrpSpPr>
      <p:grpSpPr>
        <a:xfrm>
          <a:off x="0" y="0"/>
          <a:ext cx="0" cy="0"/>
          <a:chOff x="0" y="0"/>
          <a:chExt cx="0" cy="0"/>
        </a:xfrm>
      </p:grpSpPr>
      <p:sp>
        <p:nvSpPr>
          <p:cNvPr id="63" name="Google Shape;63;p2"/>
          <p:cNvSpPr txBox="1"/>
          <p:nvPr/>
        </p:nvSpPr>
        <p:spPr>
          <a:xfrm>
            <a:off x="260825" y="232881"/>
            <a:ext cx="162877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Team Members</a:t>
            </a:r>
            <a:endParaRPr sz="1800">
              <a:solidFill>
                <a:schemeClr val="dk1"/>
              </a:solidFill>
              <a:latin typeface="Verdana"/>
              <a:ea typeface="Verdana"/>
              <a:cs typeface="Verdana"/>
              <a:sym typeface="Verdana"/>
            </a:endParaRPr>
          </a:p>
        </p:txBody>
      </p:sp>
      <p:grpSp>
        <p:nvGrpSpPr>
          <p:cNvPr id="64" name="Google Shape;64;p2"/>
          <p:cNvGrpSpPr/>
          <p:nvPr/>
        </p:nvGrpSpPr>
        <p:grpSpPr>
          <a:xfrm>
            <a:off x="0" y="4976700"/>
            <a:ext cx="9144000" cy="167005"/>
            <a:chOff x="0" y="4976700"/>
            <a:chExt cx="9144000" cy="167005"/>
          </a:xfrm>
        </p:grpSpPr>
        <p:sp>
          <p:nvSpPr>
            <p:cNvPr id="65" name="Google Shape;65;p2"/>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2"/>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7" name="Google Shape;67;p2"/>
          <p:cNvSpPr txBox="1"/>
          <p:nvPr/>
        </p:nvSpPr>
        <p:spPr>
          <a:xfrm>
            <a:off x="1402081" y="1276350"/>
            <a:ext cx="621791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Team Leader </a:t>
            </a:r>
            <a:r>
              <a:rPr lang="en-US" sz="1800">
                <a:solidFill>
                  <a:schemeClr val="dk1"/>
                </a:solidFill>
                <a:latin typeface="Calibri"/>
                <a:ea typeface="Calibri"/>
                <a:cs typeface="Calibri"/>
                <a:sym typeface="Calibri"/>
              </a:rPr>
              <a:t>: Lekha Nigam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3</a:t>
            </a:r>
            <a:r>
              <a:rPr baseline="30000" lang="en-US" sz="1800">
                <a:solidFill>
                  <a:schemeClr val="dk1"/>
                </a:solidFill>
                <a:latin typeface="Calibri"/>
                <a:ea typeface="Calibri"/>
                <a:cs typeface="Calibri"/>
                <a:sym typeface="Calibri"/>
              </a:rPr>
              <a:t>rd</a:t>
            </a:r>
            <a:r>
              <a:rPr lang="en-US" sz="1800">
                <a:solidFill>
                  <a:schemeClr val="dk1"/>
                </a:solidFill>
                <a:latin typeface="Calibri"/>
                <a:ea typeface="Calibri"/>
                <a:cs typeface="Calibri"/>
                <a:sym typeface="Calibri"/>
              </a:rPr>
              <a:t> Year, Computer Science and Engineering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Member 1</a:t>
            </a:r>
            <a:r>
              <a:rPr lang="en-US" sz="1800">
                <a:solidFill>
                  <a:schemeClr val="dk1"/>
                </a:solidFill>
                <a:latin typeface="Calibri"/>
                <a:ea typeface="Calibri"/>
                <a:cs typeface="Calibri"/>
                <a:sym typeface="Calibri"/>
              </a:rPr>
              <a:t> : Aviral Pandey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3</a:t>
            </a:r>
            <a:r>
              <a:rPr baseline="30000" lang="en-US" sz="1800">
                <a:solidFill>
                  <a:schemeClr val="dk1"/>
                </a:solidFill>
                <a:latin typeface="Calibri"/>
                <a:ea typeface="Calibri"/>
                <a:cs typeface="Calibri"/>
                <a:sym typeface="Calibri"/>
              </a:rPr>
              <a:t>rd</a:t>
            </a:r>
            <a:r>
              <a:rPr lang="en-US" sz="1800">
                <a:solidFill>
                  <a:schemeClr val="dk1"/>
                </a:solidFill>
                <a:latin typeface="Calibri"/>
                <a:ea typeface="Calibri"/>
                <a:cs typeface="Calibri"/>
                <a:sym typeface="Calibri"/>
              </a:rPr>
              <a:t> Year, Artificial Intelligence and Machine Learning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Member 2 </a:t>
            </a:r>
            <a:r>
              <a:rPr lang="en-US" sz="1800">
                <a:solidFill>
                  <a:schemeClr val="dk1"/>
                </a:solidFill>
                <a:latin typeface="Calibri"/>
                <a:ea typeface="Calibri"/>
                <a:cs typeface="Calibri"/>
                <a:sym typeface="Calibri"/>
              </a:rPr>
              <a:t>: Harshit Pandey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3</a:t>
            </a:r>
            <a:r>
              <a:rPr baseline="30000" lang="en-US" sz="1800">
                <a:solidFill>
                  <a:schemeClr val="dk1"/>
                </a:solidFill>
                <a:latin typeface="Calibri"/>
                <a:ea typeface="Calibri"/>
                <a:cs typeface="Calibri"/>
                <a:sym typeface="Calibri"/>
              </a:rPr>
              <a:t>rd</a:t>
            </a:r>
            <a:r>
              <a:rPr lang="en-US" sz="1800">
                <a:solidFill>
                  <a:schemeClr val="dk1"/>
                </a:solidFill>
                <a:latin typeface="Calibri"/>
                <a:ea typeface="Calibri"/>
                <a:cs typeface="Calibri"/>
                <a:sym typeface="Calibri"/>
              </a:rPr>
              <a:t> Year, Artificial Intelligence and Machine Learning</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Member 3 </a:t>
            </a:r>
            <a:r>
              <a:rPr lang="en-US" sz="1800">
                <a:solidFill>
                  <a:schemeClr val="dk1"/>
                </a:solidFill>
                <a:latin typeface="Calibri"/>
                <a:ea typeface="Calibri"/>
                <a:cs typeface="Calibri"/>
                <a:sym typeface="Calibri"/>
              </a:rPr>
              <a:t>: Aditi Agarwal</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3</a:t>
            </a:r>
            <a:r>
              <a:rPr baseline="30000" lang="en-US" sz="1800">
                <a:solidFill>
                  <a:schemeClr val="dk1"/>
                </a:solidFill>
                <a:latin typeface="Calibri"/>
                <a:ea typeface="Calibri"/>
                <a:cs typeface="Calibri"/>
                <a:sym typeface="Calibri"/>
              </a:rPr>
              <a:t>rd</a:t>
            </a:r>
            <a:r>
              <a:rPr lang="en-US" sz="1800">
                <a:solidFill>
                  <a:schemeClr val="dk1"/>
                </a:solidFill>
                <a:latin typeface="Calibri"/>
                <a:ea typeface="Calibri"/>
                <a:cs typeface="Calibri"/>
                <a:sym typeface="Calibri"/>
              </a:rPr>
              <a:t> Year, Computer Science and Engineering</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par>
                                <p:cTn fill="hold" nodeType="with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3"/>
          <p:cNvSpPr txBox="1"/>
          <p:nvPr/>
        </p:nvSpPr>
        <p:spPr>
          <a:xfrm>
            <a:off x="609600" y="205311"/>
            <a:ext cx="134239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Introduction</a:t>
            </a:r>
            <a:endParaRPr sz="1800">
              <a:solidFill>
                <a:schemeClr val="dk1"/>
              </a:solidFill>
              <a:latin typeface="Verdana"/>
              <a:ea typeface="Verdana"/>
              <a:cs typeface="Verdana"/>
              <a:sym typeface="Verdana"/>
            </a:endParaRPr>
          </a:p>
        </p:txBody>
      </p:sp>
      <p:sp>
        <p:nvSpPr>
          <p:cNvPr id="73" name="Google Shape;73;p3"/>
          <p:cNvSpPr txBox="1"/>
          <p:nvPr/>
        </p:nvSpPr>
        <p:spPr>
          <a:xfrm>
            <a:off x="609600" y="605136"/>
            <a:ext cx="7924800" cy="3998531"/>
          </a:xfrm>
          <a:prstGeom prst="rect">
            <a:avLst/>
          </a:prstGeom>
          <a:noFill/>
          <a:ln>
            <a:noFill/>
          </a:ln>
        </p:spPr>
        <p:txBody>
          <a:bodyPr anchorCtr="0" anchor="t" bIns="0" lIns="0" spcFirstLastPara="1" rIns="0" wrap="square" tIns="12700">
            <a:spAutoFit/>
          </a:bodyPr>
          <a:lstStyle/>
          <a:p>
            <a:pPr indent="0" lvl="0" marL="12065" marR="5080" rtl="0" algn="l">
              <a:lnSpc>
                <a:spcPct val="100000"/>
              </a:lnSpc>
              <a:spcBef>
                <a:spcPts val="0"/>
              </a:spcBef>
              <a:spcAft>
                <a:spcPts val="0"/>
              </a:spcAft>
              <a:buNone/>
            </a:pPr>
            <a:r>
              <a:rPr b="1" lang="en-US" sz="1600">
                <a:solidFill>
                  <a:schemeClr val="dk1"/>
                </a:solidFill>
                <a:latin typeface="Calibri"/>
                <a:ea typeface="Calibri"/>
                <a:cs typeface="Calibri"/>
                <a:sym typeface="Calibri"/>
              </a:rPr>
              <a:t>Overview of the Project:</a:t>
            </a:r>
            <a:endParaRPr/>
          </a:p>
          <a:p>
            <a:pPr indent="0" lvl="0" marL="12065" marR="5080" rtl="0" algn="l">
              <a:lnSpc>
                <a:spcPct val="100000"/>
              </a:lnSpc>
              <a:spcBef>
                <a:spcPts val="100"/>
              </a:spcBef>
              <a:spcAft>
                <a:spcPts val="0"/>
              </a:spcAft>
              <a:buNone/>
            </a:pPr>
            <a:r>
              <a:rPr lang="en-US" sz="1400">
                <a:solidFill>
                  <a:schemeClr val="dk1"/>
                </a:solidFill>
                <a:latin typeface="Calibri"/>
                <a:ea typeface="Calibri"/>
                <a:cs typeface="Calibri"/>
                <a:sym typeface="Calibri"/>
              </a:rPr>
              <a:t>This project delves into the pressing issue of climate change by rigorously analyzing comprehensive climate data. By examining global temperatures, CO2 emissions, sea level rise, and the frequency of extreme weather events, the project aims to uncover critical trends and patterns. Leveraging advanced data analytics tools and techniques, such as Python, Power BI, and Tableau, this project provides a robust analysis that translates complex data into actionable insights. These insights are designed to inform policymakers and stakeholders, promoting sustainable practices and effective climate action.</a:t>
            </a:r>
            <a:endParaRPr/>
          </a:p>
          <a:p>
            <a:pPr indent="0" lvl="0" marL="12065" marR="5080" rtl="0" algn="l">
              <a:lnSpc>
                <a:spcPct val="100000"/>
              </a:lnSpc>
              <a:spcBef>
                <a:spcPts val="100"/>
              </a:spcBef>
              <a:spcAft>
                <a:spcPts val="0"/>
              </a:spcAft>
              <a:buNone/>
            </a:pPr>
            <a:r>
              <a:t/>
            </a:r>
            <a:endParaRPr sz="1400">
              <a:solidFill>
                <a:schemeClr val="dk1"/>
              </a:solidFill>
              <a:latin typeface="Calibri"/>
              <a:ea typeface="Calibri"/>
              <a:cs typeface="Calibri"/>
              <a:sym typeface="Calibri"/>
            </a:endParaRPr>
          </a:p>
          <a:p>
            <a:pPr indent="0" lvl="0" marL="12065" marR="5080" rtl="0" algn="l">
              <a:lnSpc>
                <a:spcPct val="100000"/>
              </a:lnSpc>
              <a:spcBef>
                <a:spcPts val="100"/>
              </a:spcBef>
              <a:spcAft>
                <a:spcPts val="0"/>
              </a:spcAft>
              <a:buNone/>
            </a:pPr>
            <a:r>
              <a:rPr b="1" lang="en-US" sz="1600">
                <a:solidFill>
                  <a:schemeClr val="dk1"/>
                </a:solidFill>
                <a:latin typeface="Calibri"/>
                <a:ea typeface="Calibri"/>
                <a:cs typeface="Calibri"/>
                <a:sym typeface="Calibri"/>
              </a:rPr>
              <a:t>Objective:</a:t>
            </a:r>
            <a:endParaRPr/>
          </a:p>
          <a:p>
            <a:pPr indent="-285750" lvl="0" marL="297815" marR="50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Analyze Climate Data</a:t>
            </a:r>
            <a:r>
              <a:rPr lang="en-US" sz="1400">
                <a:solidFill>
                  <a:schemeClr val="dk1"/>
                </a:solidFill>
                <a:latin typeface="Calibri"/>
                <a:ea typeface="Calibri"/>
                <a:cs typeface="Calibri"/>
                <a:sym typeface="Calibri"/>
              </a:rPr>
              <a:t>: The primary goal is to identify significant trends and shifts in global temperatures, CO2 emissions, and sea levels. By pinpointing these changes, the project seeks to understand the broader impact on our planet's climate system.</a:t>
            </a:r>
            <a:endParaRPr/>
          </a:p>
          <a:p>
            <a:pPr indent="-285750" lvl="0" marL="297815" marR="50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Understand Impacts</a:t>
            </a:r>
            <a:r>
              <a:rPr lang="en-US" sz="1400">
                <a:solidFill>
                  <a:schemeClr val="dk1"/>
                </a:solidFill>
                <a:latin typeface="Calibri"/>
                <a:ea typeface="Calibri"/>
                <a:cs typeface="Calibri"/>
                <a:sym typeface="Calibri"/>
              </a:rPr>
              <a:t>: A critical part of the project is to assess how these climate variables influence extreme weather events and affect vulnerable regions. This includes studying the correlation between rising temperatures and the frequency/intensity of hurricanes, floods, and heat waves.</a:t>
            </a:r>
            <a:endParaRPr/>
          </a:p>
          <a:p>
            <a:pPr indent="-285750" lvl="0" marL="297815" marR="50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Provide Insights</a:t>
            </a:r>
            <a:r>
              <a:rPr lang="en-US" sz="1400">
                <a:solidFill>
                  <a:schemeClr val="dk1"/>
                </a:solidFill>
                <a:latin typeface="Calibri"/>
                <a:ea typeface="Calibri"/>
                <a:cs typeface="Calibri"/>
                <a:sym typeface="Calibri"/>
              </a:rPr>
              <a:t>: The project aims to offer data-driven insights and strategic recommendations for mitigating the adverse effects of climate change. This includes advocating for policy changes, promoting renewable energy, and encouraging sustainable practices across various sectors.</a:t>
            </a:r>
            <a:endParaRPr b="1" sz="1600">
              <a:solidFill>
                <a:schemeClr val="dk1"/>
              </a:solidFill>
              <a:latin typeface="Calibri"/>
              <a:ea typeface="Calibri"/>
              <a:cs typeface="Calibri"/>
              <a:sym typeface="Calibri"/>
            </a:endParaRPr>
          </a:p>
        </p:txBody>
      </p:sp>
      <p:grpSp>
        <p:nvGrpSpPr>
          <p:cNvPr id="74" name="Google Shape;74;p3"/>
          <p:cNvGrpSpPr/>
          <p:nvPr/>
        </p:nvGrpSpPr>
        <p:grpSpPr>
          <a:xfrm>
            <a:off x="0" y="4976700"/>
            <a:ext cx="9144000" cy="167005"/>
            <a:chOff x="0" y="4976700"/>
            <a:chExt cx="9144000" cy="167005"/>
          </a:xfrm>
        </p:grpSpPr>
        <p:sp>
          <p:nvSpPr>
            <p:cNvPr id="75" name="Google Shape;75;p3"/>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3"/>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1000"/>
                                        <p:tgtEl>
                                          <p:spTgt spid="72"/>
                                        </p:tgtEl>
                                        <p:attrNameLst>
                                          <p:attrName>ppt_w</p:attrName>
                                        </p:attrNameLst>
                                      </p:cBhvr>
                                      <p:tavLst>
                                        <p:tav fmla="" tm="0">
                                          <p:val>
                                            <p:strVal val="0"/>
                                          </p:val>
                                        </p:tav>
                                        <p:tav fmla="" tm="100000">
                                          <p:val>
                                            <p:strVal val="#ppt_w"/>
                                          </p:val>
                                        </p:tav>
                                      </p:tavLst>
                                    </p:anim>
                                    <p:anim calcmode="lin" valueType="num">
                                      <p:cBhvr additive="base">
                                        <p:cTn dur="1000"/>
                                        <p:tgtEl>
                                          <p:spTgt spid="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10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10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10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1000"/>
                                        <p:tgtEl>
                                          <p:spTgt spid="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animEffect filter="fade" transition="in">
                                      <p:cBhvr>
                                        <p:cTn dur="1000"/>
                                        <p:tgtEl>
                                          <p:spTgt spid="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animEffect filter="fade" transition="in">
                                      <p:cBhvr>
                                        <p:cTn dur="1000"/>
                                        <p:tgtEl>
                                          <p:spTgt spid="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animEffect filter="fade" transition="in">
                                      <p:cBhvr>
                                        <p:cTn dur="1000"/>
                                        <p:tgtEl>
                                          <p:spTgt spid="7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 name="Shape 80"/>
        <p:cNvGrpSpPr/>
        <p:nvPr/>
      </p:nvGrpSpPr>
      <p:grpSpPr>
        <a:xfrm>
          <a:off x="0" y="0"/>
          <a:ext cx="0" cy="0"/>
          <a:chOff x="0" y="0"/>
          <a:chExt cx="0" cy="0"/>
        </a:xfrm>
      </p:grpSpPr>
      <p:sp>
        <p:nvSpPr>
          <p:cNvPr id="81" name="Google Shape;81;p4"/>
          <p:cNvSpPr txBox="1"/>
          <p:nvPr/>
        </p:nvSpPr>
        <p:spPr>
          <a:xfrm>
            <a:off x="281700" y="232881"/>
            <a:ext cx="238315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Problem Identiﬁcation</a:t>
            </a:r>
            <a:endParaRPr sz="1800">
              <a:solidFill>
                <a:schemeClr val="dk1"/>
              </a:solidFill>
              <a:latin typeface="Verdana"/>
              <a:ea typeface="Verdana"/>
              <a:cs typeface="Verdana"/>
              <a:sym typeface="Verdana"/>
            </a:endParaRPr>
          </a:p>
        </p:txBody>
      </p:sp>
      <p:sp>
        <p:nvSpPr>
          <p:cNvPr id="82" name="Google Shape;82;p4"/>
          <p:cNvSpPr txBox="1"/>
          <p:nvPr/>
        </p:nvSpPr>
        <p:spPr>
          <a:xfrm>
            <a:off x="419100" y="742950"/>
            <a:ext cx="8305800" cy="3731791"/>
          </a:xfrm>
          <a:prstGeom prst="rect">
            <a:avLst/>
          </a:prstGeom>
          <a:noFill/>
          <a:ln>
            <a:noFill/>
          </a:ln>
        </p:spPr>
        <p:txBody>
          <a:bodyPr anchorCtr="0" anchor="t" bIns="0" lIns="0" spcFirstLastPara="1" rIns="0" wrap="square" tIns="12700">
            <a:spAutoFit/>
          </a:bodyPr>
          <a:lstStyle/>
          <a:p>
            <a:pPr indent="0" lvl="0" marL="12065" marR="0" rtl="0" algn="l">
              <a:lnSpc>
                <a:spcPct val="100000"/>
              </a:lnSpc>
              <a:spcBef>
                <a:spcPts val="0"/>
              </a:spcBef>
              <a:spcAft>
                <a:spcPts val="0"/>
              </a:spcAft>
              <a:buNone/>
            </a:pPr>
            <a:r>
              <a:rPr b="1" lang="en-US" sz="1600">
                <a:solidFill>
                  <a:schemeClr val="dk1"/>
                </a:solidFill>
                <a:latin typeface="Calibri"/>
                <a:ea typeface="Calibri"/>
                <a:cs typeface="Calibri"/>
                <a:sym typeface="Calibri"/>
              </a:rPr>
              <a:t>Problem Statement:</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Climate Change Crisis</a:t>
            </a:r>
            <a:r>
              <a:rPr lang="en-US" sz="1400">
                <a:solidFill>
                  <a:schemeClr val="dk1"/>
                </a:solidFill>
                <a:latin typeface="Calibri"/>
                <a:ea typeface="Calibri"/>
                <a:cs typeface="Calibri"/>
                <a:sym typeface="Calibri"/>
              </a:rPr>
              <a:t>: Urgent issue with rising temperatures, CO2 emissions, and extreme weather events.</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Need for Analysis</a:t>
            </a:r>
            <a:r>
              <a:rPr lang="en-US" sz="1400">
                <a:solidFill>
                  <a:schemeClr val="dk1"/>
                </a:solidFill>
                <a:latin typeface="Calibri"/>
                <a:ea typeface="Calibri"/>
                <a:cs typeface="Calibri"/>
                <a:sym typeface="Calibri"/>
              </a:rPr>
              <a:t>: Comprehensive data analysis required for informed decision-making and mitigation strategies.</a:t>
            </a:r>
            <a:endParaRPr/>
          </a:p>
          <a:p>
            <a:pPr indent="0" lvl="0" marL="12065" marR="0" rtl="0" algn="l">
              <a:lnSpc>
                <a:spcPct val="100000"/>
              </a:lnSpc>
              <a:spcBef>
                <a:spcPts val="100"/>
              </a:spcBef>
              <a:spcAft>
                <a:spcPts val="0"/>
              </a:spcAft>
              <a:buNone/>
            </a:pPr>
            <a:r>
              <a:t/>
            </a:r>
            <a:endParaRPr sz="1400">
              <a:solidFill>
                <a:schemeClr val="dk1"/>
              </a:solidFill>
              <a:latin typeface="Calibri"/>
              <a:ea typeface="Calibri"/>
              <a:cs typeface="Calibri"/>
              <a:sym typeface="Calibri"/>
            </a:endParaRPr>
          </a:p>
          <a:p>
            <a:pPr indent="0" lvl="0" marL="12065" marR="0" rtl="0" algn="l">
              <a:lnSpc>
                <a:spcPct val="100000"/>
              </a:lnSpc>
              <a:spcBef>
                <a:spcPts val="100"/>
              </a:spcBef>
              <a:spcAft>
                <a:spcPts val="0"/>
              </a:spcAft>
              <a:buNone/>
            </a:pPr>
            <a:r>
              <a:rPr b="1" lang="en-US" sz="1600">
                <a:solidFill>
                  <a:schemeClr val="dk1"/>
                </a:solidFill>
                <a:latin typeface="Calibri"/>
                <a:ea typeface="Calibri"/>
                <a:cs typeface="Calibri"/>
                <a:sym typeface="Calibri"/>
              </a:rPr>
              <a:t>Significance:</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Environmental Impact</a:t>
            </a:r>
            <a:r>
              <a:rPr lang="en-US" sz="1400">
                <a:solidFill>
                  <a:schemeClr val="dk1"/>
                </a:solidFill>
                <a:latin typeface="Calibri"/>
                <a:ea typeface="Calibri"/>
                <a:cs typeface="Calibri"/>
                <a:sym typeface="Calibri"/>
              </a:rPr>
              <a:t>: Harm to ecosystems, biodiversity, and agriculture.</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Human Health</a:t>
            </a:r>
            <a:r>
              <a:rPr lang="en-US" sz="1400">
                <a:solidFill>
                  <a:schemeClr val="dk1"/>
                </a:solidFill>
                <a:latin typeface="Calibri"/>
                <a:ea typeface="Calibri"/>
                <a:cs typeface="Calibri"/>
                <a:sym typeface="Calibri"/>
              </a:rPr>
              <a:t>: Increased risks from extreme weather events.</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Economic Consequences</a:t>
            </a:r>
            <a:r>
              <a:rPr lang="en-US" sz="1400">
                <a:solidFill>
                  <a:schemeClr val="dk1"/>
                </a:solidFill>
                <a:latin typeface="Calibri"/>
                <a:ea typeface="Calibri"/>
                <a:cs typeface="Calibri"/>
                <a:sym typeface="Calibri"/>
              </a:rPr>
              <a:t>: Disruption to industries and increased costs.</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Global Inequities</a:t>
            </a:r>
            <a:r>
              <a:rPr lang="en-US" sz="1400">
                <a:solidFill>
                  <a:schemeClr val="dk1"/>
                </a:solidFill>
                <a:latin typeface="Calibri"/>
                <a:ea typeface="Calibri"/>
                <a:cs typeface="Calibri"/>
                <a:sym typeface="Calibri"/>
              </a:rPr>
              <a:t>: Disproportionate effects on vulnerable populations.</a:t>
            </a:r>
            <a:endParaRPr/>
          </a:p>
          <a:p>
            <a:pPr indent="0" lvl="0" marL="12065" marR="0" rtl="0" algn="l">
              <a:lnSpc>
                <a:spcPct val="100000"/>
              </a:lnSpc>
              <a:spcBef>
                <a:spcPts val="100"/>
              </a:spcBef>
              <a:spcAft>
                <a:spcPts val="0"/>
              </a:spcAft>
              <a:buNone/>
            </a:pPr>
            <a:r>
              <a:t/>
            </a:r>
            <a:endParaRPr sz="1400">
              <a:solidFill>
                <a:schemeClr val="dk1"/>
              </a:solidFill>
              <a:latin typeface="Calibri"/>
              <a:ea typeface="Calibri"/>
              <a:cs typeface="Calibri"/>
              <a:sym typeface="Calibri"/>
            </a:endParaRPr>
          </a:p>
          <a:p>
            <a:pPr indent="0" lvl="0" marL="12065" marR="0" rtl="0" algn="l">
              <a:lnSpc>
                <a:spcPct val="100000"/>
              </a:lnSpc>
              <a:spcBef>
                <a:spcPts val="100"/>
              </a:spcBef>
              <a:spcAft>
                <a:spcPts val="0"/>
              </a:spcAft>
              <a:buNone/>
            </a:pPr>
            <a:r>
              <a:rPr b="1" lang="en-US" sz="1600">
                <a:solidFill>
                  <a:schemeClr val="dk1"/>
                </a:solidFill>
                <a:latin typeface="Calibri"/>
                <a:ea typeface="Calibri"/>
                <a:cs typeface="Calibri"/>
                <a:sym typeface="Calibri"/>
              </a:rPr>
              <a:t>Relevant SDGs:</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SDG 13</a:t>
            </a:r>
            <a:r>
              <a:rPr lang="en-US" sz="1400">
                <a:solidFill>
                  <a:schemeClr val="dk1"/>
                </a:solidFill>
                <a:latin typeface="Calibri"/>
                <a:ea typeface="Calibri"/>
                <a:cs typeface="Calibri"/>
                <a:sym typeface="Calibri"/>
              </a:rPr>
              <a:t>: Climate Action</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SDG 7</a:t>
            </a:r>
            <a:r>
              <a:rPr lang="en-US" sz="1400">
                <a:solidFill>
                  <a:schemeClr val="dk1"/>
                </a:solidFill>
                <a:latin typeface="Calibri"/>
                <a:ea typeface="Calibri"/>
                <a:cs typeface="Calibri"/>
                <a:sym typeface="Calibri"/>
              </a:rPr>
              <a:t>: Affordable and Clean Energy</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SDG 11</a:t>
            </a:r>
            <a:r>
              <a:rPr lang="en-US" sz="1400">
                <a:solidFill>
                  <a:schemeClr val="dk1"/>
                </a:solidFill>
                <a:latin typeface="Calibri"/>
                <a:ea typeface="Calibri"/>
                <a:cs typeface="Calibri"/>
                <a:sym typeface="Calibri"/>
              </a:rPr>
              <a:t>: Sustainable Cities and Communities</a:t>
            </a:r>
            <a:endParaRPr/>
          </a:p>
          <a:p>
            <a:pPr indent="-285750" lvl="0" marL="297815" marR="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SDG 15</a:t>
            </a:r>
            <a:r>
              <a:rPr lang="en-US" sz="1400">
                <a:solidFill>
                  <a:schemeClr val="dk1"/>
                </a:solidFill>
                <a:latin typeface="Calibri"/>
                <a:ea typeface="Calibri"/>
                <a:cs typeface="Calibri"/>
                <a:sym typeface="Calibri"/>
              </a:rPr>
              <a:t>: Life on Land</a:t>
            </a:r>
            <a:endParaRPr sz="1400">
              <a:solidFill>
                <a:schemeClr val="dk1"/>
              </a:solidFill>
              <a:latin typeface="Calibri"/>
              <a:ea typeface="Calibri"/>
              <a:cs typeface="Calibri"/>
              <a:sym typeface="Calibri"/>
            </a:endParaRPr>
          </a:p>
        </p:txBody>
      </p:sp>
      <p:grpSp>
        <p:nvGrpSpPr>
          <p:cNvPr id="83" name="Google Shape;83;p4"/>
          <p:cNvGrpSpPr/>
          <p:nvPr/>
        </p:nvGrpSpPr>
        <p:grpSpPr>
          <a:xfrm>
            <a:off x="0" y="4976700"/>
            <a:ext cx="9144000" cy="167005"/>
            <a:chOff x="0" y="4976700"/>
            <a:chExt cx="9144000" cy="167005"/>
          </a:xfrm>
        </p:grpSpPr>
        <p:sp>
          <p:nvSpPr>
            <p:cNvPr id="84" name="Google Shape;84;p4"/>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4"/>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6" name="Google Shape;86;p4"/>
          <p:cNvGrpSpPr/>
          <p:nvPr/>
        </p:nvGrpSpPr>
        <p:grpSpPr>
          <a:xfrm>
            <a:off x="6272710" y="2353592"/>
            <a:ext cx="2141195" cy="2132035"/>
            <a:chOff x="6284958" y="2334542"/>
            <a:chExt cx="2141195" cy="2132035"/>
          </a:xfrm>
        </p:grpSpPr>
        <p:pic>
          <p:nvPicPr>
            <p:cNvPr id="87" name="Google Shape;87;p4"/>
            <p:cNvPicPr preferRelativeResize="0"/>
            <p:nvPr/>
          </p:nvPicPr>
          <p:blipFill rotWithShape="1">
            <a:blip r:embed="rId3">
              <a:alphaModFix/>
            </a:blip>
            <a:srcRect b="0" l="0" r="0" t="0"/>
            <a:stretch/>
          </p:blipFill>
          <p:spPr>
            <a:xfrm>
              <a:off x="6284960" y="2334542"/>
              <a:ext cx="1070596" cy="1070596"/>
            </a:xfrm>
            <a:prstGeom prst="rect">
              <a:avLst/>
            </a:prstGeom>
            <a:noFill/>
            <a:ln cap="flat" cmpd="sng" w="9525">
              <a:solidFill>
                <a:schemeClr val="dk1"/>
              </a:solidFill>
              <a:prstDash val="solid"/>
              <a:round/>
              <a:headEnd len="sm" w="sm" type="none"/>
              <a:tailEnd len="sm" w="sm" type="none"/>
            </a:ln>
          </p:spPr>
        </p:pic>
        <p:pic>
          <p:nvPicPr>
            <p:cNvPr id="88" name="Google Shape;88;p4"/>
            <p:cNvPicPr preferRelativeResize="0"/>
            <p:nvPr/>
          </p:nvPicPr>
          <p:blipFill rotWithShape="1">
            <a:blip r:embed="rId4">
              <a:alphaModFix/>
            </a:blip>
            <a:srcRect b="0" l="0" r="0" t="0"/>
            <a:stretch/>
          </p:blipFill>
          <p:spPr>
            <a:xfrm>
              <a:off x="7355556" y="2334542"/>
              <a:ext cx="1070597" cy="1070597"/>
            </a:xfrm>
            <a:prstGeom prst="rect">
              <a:avLst/>
            </a:prstGeom>
            <a:noFill/>
            <a:ln cap="flat" cmpd="sng" w="9525">
              <a:solidFill>
                <a:schemeClr val="dk1"/>
              </a:solidFill>
              <a:prstDash val="solid"/>
              <a:round/>
              <a:headEnd len="sm" w="sm" type="none"/>
              <a:tailEnd len="sm" w="sm" type="none"/>
            </a:ln>
          </p:spPr>
        </p:pic>
        <p:pic>
          <p:nvPicPr>
            <p:cNvPr id="89" name="Google Shape;89;p4"/>
            <p:cNvPicPr preferRelativeResize="0"/>
            <p:nvPr/>
          </p:nvPicPr>
          <p:blipFill rotWithShape="1">
            <a:blip r:embed="rId5">
              <a:alphaModFix/>
            </a:blip>
            <a:srcRect b="0" l="0" r="0" t="0"/>
            <a:stretch/>
          </p:blipFill>
          <p:spPr>
            <a:xfrm>
              <a:off x="6284958" y="3395979"/>
              <a:ext cx="1070598" cy="1070598"/>
            </a:xfrm>
            <a:prstGeom prst="rect">
              <a:avLst/>
            </a:prstGeom>
            <a:noFill/>
            <a:ln cap="flat" cmpd="sng" w="9525">
              <a:solidFill>
                <a:schemeClr val="dk1"/>
              </a:solidFill>
              <a:prstDash val="solid"/>
              <a:round/>
              <a:headEnd len="sm" w="sm" type="none"/>
              <a:tailEnd len="sm" w="sm" type="none"/>
            </a:ln>
          </p:spPr>
        </p:pic>
        <p:pic>
          <p:nvPicPr>
            <p:cNvPr id="90" name="Google Shape;90;p4"/>
            <p:cNvPicPr preferRelativeResize="0"/>
            <p:nvPr/>
          </p:nvPicPr>
          <p:blipFill rotWithShape="1">
            <a:blip r:embed="rId6">
              <a:alphaModFix/>
            </a:blip>
            <a:srcRect b="0" l="0" r="0" t="0"/>
            <a:stretch/>
          </p:blipFill>
          <p:spPr>
            <a:xfrm>
              <a:off x="7355556" y="3396974"/>
              <a:ext cx="1069601" cy="1069601"/>
            </a:xfrm>
            <a:prstGeom prst="rect">
              <a:avLst/>
            </a:prstGeom>
            <a:noFill/>
            <a:ln cap="flat" cmpd="sng" w="9525">
              <a:solidFill>
                <a:schemeClr val="dk1"/>
              </a:solidFill>
              <a:prstDash val="solid"/>
              <a:round/>
              <a:headEnd len="sm" w="sm" type="none"/>
              <a:tailEnd len="sm" w="sm" type="none"/>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1000"/>
                                        <p:tgtEl>
                                          <p:spTgt spid="81"/>
                                        </p:tgtEl>
                                        <p:attrNameLst>
                                          <p:attrName>ppt_w</p:attrName>
                                        </p:attrNameLst>
                                      </p:cBhvr>
                                      <p:tavLst>
                                        <p:tav fmla="" tm="0">
                                          <p:val>
                                            <p:strVal val="0"/>
                                          </p:val>
                                        </p:tav>
                                        <p:tav fmla="" tm="100000">
                                          <p:val>
                                            <p:strVal val="#ppt_w"/>
                                          </p:val>
                                        </p:tav>
                                      </p:tavLst>
                                    </p:anim>
                                    <p:anim calcmode="lin" valueType="num">
                                      <p:cBhvr additive="base">
                                        <p:cTn dur="1000"/>
                                        <p:tgtEl>
                                          <p:spTgt spid="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10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Effect filter="fade" transition="in">
                                      <p:cBhvr>
                                        <p:cTn dur="1000"/>
                                        <p:tgtEl>
                                          <p:spTgt spid="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Effect filter="fade" transition="in">
                                      <p:cBhvr>
                                        <p:cTn dur="1000"/>
                                        <p:tgtEl>
                                          <p:spTgt spid="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animEffect filter="fade" transition="in">
                                      <p:cBhvr>
                                        <p:cTn dur="1000"/>
                                        <p:tgtEl>
                                          <p:spTgt spid="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animEffect filter="fade" transition="in">
                                      <p:cBhvr>
                                        <p:cTn dur="1000"/>
                                        <p:tgtEl>
                                          <p:spTgt spid="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animEffect filter="fade" transition="in">
                                      <p:cBhvr>
                                        <p:cTn dur="1000"/>
                                        <p:tgtEl>
                                          <p:spTgt spid="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6" st="6"/>
                                            </p:txEl>
                                          </p:spTgt>
                                        </p:tgtEl>
                                        <p:attrNameLst>
                                          <p:attrName>style.visibility</p:attrName>
                                        </p:attrNameLst>
                                      </p:cBhvr>
                                      <p:to>
                                        <p:strVal val="visible"/>
                                      </p:to>
                                    </p:set>
                                    <p:animEffect filter="fade" transition="in">
                                      <p:cBhvr>
                                        <p:cTn dur="1000"/>
                                        <p:tgtEl>
                                          <p:spTgt spid="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7" st="7"/>
                                            </p:txEl>
                                          </p:spTgt>
                                        </p:tgtEl>
                                        <p:attrNameLst>
                                          <p:attrName>style.visibility</p:attrName>
                                        </p:attrNameLst>
                                      </p:cBhvr>
                                      <p:to>
                                        <p:strVal val="visible"/>
                                      </p:to>
                                    </p:set>
                                    <p:animEffect filter="fade" transition="in">
                                      <p:cBhvr>
                                        <p:cTn dur="1000"/>
                                        <p:tgtEl>
                                          <p:spTgt spid="8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8" st="8"/>
                                            </p:txEl>
                                          </p:spTgt>
                                        </p:tgtEl>
                                        <p:attrNameLst>
                                          <p:attrName>style.visibility</p:attrName>
                                        </p:attrNameLst>
                                      </p:cBhvr>
                                      <p:to>
                                        <p:strVal val="visible"/>
                                      </p:to>
                                    </p:set>
                                    <p:animEffect filter="fade" transition="in">
                                      <p:cBhvr>
                                        <p:cTn dur="1000"/>
                                        <p:tgtEl>
                                          <p:spTgt spid="8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9" st="9"/>
                                            </p:txEl>
                                          </p:spTgt>
                                        </p:tgtEl>
                                        <p:attrNameLst>
                                          <p:attrName>style.visibility</p:attrName>
                                        </p:attrNameLst>
                                      </p:cBhvr>
                                      <p:to>
                                        <p:strVal val="visible"/>
                                      </p:to>
                                    </p:set>
                                    <p:animEffect filter="fade" transition="in">
                                      <p:cBhvr>
                                        <p:cTn dur="1000"/>
                                        <p:tgtEl>
                                          <p:spTgt spid="8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0" st="10"/>
                                            </p:txEl>
                                          </p:spTgt>
                                        </p:tgtEl>
                                        <p:attrNameLst>
                                          <p:attrName>style.visibility</p:attrName>
                                        </p:attrNameLst>
                                      </p:cBhvr>
                                      <p:to>
                                        <p:strVal val="visible"/>
                                      </p:to>
                                    </p:set>
                                    <p:animEffect filter="fade" transition="in">
                                      <p:cBhvr>
                                        <p:cTn dur="1000"/>
                                        <p:tgtEl>
                                          <p:spTgt spid="8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1" st="11"/>
                                            </p:txEl>
                                          </p:spTgt>
                                        </p:tgtEl>
                                        <p:attrNameLst>
                                          <p:attrName>style.visibility</p:attrName>
                                        </p:attrNameLst>
                                      </p:cBhvr>
                                      <p:to>
                                        <p:strVal val="visible"/>
                                      </p:to>
                                    </p:set>
                                    <p:animEffect filter="fade" transition="in">
                                      <p:cBhvr>
                                        <p:cTn dur="1000"/>
                                        <p:tgtEl>
                                          <p:spTgt spid="8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2" st="12"/>
                                            </p:txEl>
                                          </p:spTgt>
                                        </p:tgtEl>
                                        <p:attrNameLst>
                                          <p:attrName>style.visibility</p:attrName>
                                        </p:attrNameLst>
                                      </p:cBhvr>
                                      <p:to>
                                        <p:strVal val="visible"/>
                                      </p:to>
                                    </p:set>
                                    <p:animEffect filter="fade" transition="in">
                                      <p:cBhvr>
                                        <p:cTn dur="1000"/>
                                        <p:tgtEl>
                                          <p:spTgt spid="8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3" st="13"/>
                                            </p:txEl>
                                          </p:spTgt>
                                        </p:tgtEl>
                                        <p:attrNameLst>
                                          <p:attrName>style.visibility</p:attrName>
                                        </p:attrNameLst>
                                      </p:cBhvr>
                                      <p:to>
                                        <p:strVal val="visible"/>
                                      </p:to>
                                    </p:set>
                                    <p:animEffect filter="fade" transition="in">
                                      <p:cBhvr>
                                        <p:cTn dur="1000"/>
                                        <p:tgtEl>
                                          <p:spTgt spid="8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4" st="14"/>
                                            </p:txEl>
                                          </p:spTgt>
                                        </p:tgtEl>
                                        <p:attrNameLst>
                                          <p:attrName>style.visibility</p:attrName>
                                        </p:attrNameLst>
                                      </p:cBhvr>
                                      <p:to>
                                        <p:strVal val="visible"/>
                                      </p:to>
                                    </p:set>
                                    <p:animEffect filter="fade" transition="in">
                                      <p:cBhvr>
                                        <p:cTn dur="1000"/>
                                        <p:tgtEl>
                                          <p:spTgt spid="82">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1000"/>
                                        <p:tgtEl>
                                          <p:spTgt spid="86"/>
                                        </p:tgtEl>
                                        <p:attrNameLst>
                                          <p:attrName>ppt_w</p:attrName>
                                        </p:attrNameLst>
                                      </p:cBhvr>
                                      <p:tavLst>
                                        <p:tav fmla="" tm="0">
                                          <p:val>
                                            <p:strVal val="0"/>
                                          </p:val>
                                        </p:tav>
                                        <p:tav fmla="" tm="100000">
                                          <p:val>
                                            <p:strVal val="#ppt_w"/>
                                          </p:val>
                                        </p:tav>
                                      </p:tavLst>
                                    </p:anim>
                                    <p:anim calcmode="lin" valueType="num">
                                      <p:cBhvr additive="base">
                                        <p:cTn dur="1000"/>
                                        <p:tgtEl>
                                          <p:spTgt spid="8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 name="Shape 94"/>
        <p:cNvGrpSpPr/>
        <p:nvPr/>
      </p:nvGrpSpPr>
      <p:grpSpPr>
        <a:xfrm>
          <a:off x="0" y="0"/>
          <a:ext cx="0" cy="0"/>
          <a:chOff x="0" y="0"/>
          <a:chExt cx="0" cy="0"/>
        </a:xfrm>
      </p:grpSpPr>
      <p:sp>
        <p:nvSpPr>
          <p:cNvPr id="95" name="Google Shape;95;p5"/>
          <p:cNvSpPr txBox="1"/>
          <p:nvPr/>
        </p:nvSpPr>
        <p:spPr>
          <a:xfrm>
            <a:off x="166949" y="212030"/>
            <a:ext cx="162179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Data Collection</a:t>
            </a:r>
            <a:endParaRPr sz="1800">
              <a:solidFill>
                <a:schemeClr val="dk1"/>
              </a:solidFill>
              <a:latin typeface="Verdana"/>
              <a:ea typeface="Verdana"/>
              <a:cs typeface="Verdana"/>
              <a:sym typeface="Verdana"/>
            </a:endParaRPr>
          </a:p>
        </p:txBody>
      </p:sp>
      <p:sp>
        <p:nvSpPr>
          <p:cNvPr id="96" name="Google Shape;96;p5"/>
          <p:cNvSpPr txBox="1"/>
          <p:nvPr/>
        </p:nvSpPr>
        <p:spPr>
          <a:xfrm>
            <a:off x="419100" y="742950"/>
            <a:ext cx="8305800" cy="3911327"/>
          </a:xfrm>
          <a:prstGeom prst="rect">
            <a:avLst/>
          </a:prstGeom>
          <a:noFill/>
          <a:ln>
            <a:noFill/>
          </a:ln>
        </p:spPr>
        <p:txBody>
          <a:bodyPr anchorCtr="0" anchor="t" bIns="0" lIns="0" spcFirstLastPara="1" rIns="0" wrap="square" tIns="12700">
            <a:spAutoFit/>
          </a:bodyPr>
          <a:lstStyle/>
          <a:p>
            <a:pPr indent="0" lvl="0" marL="12065" marR="0" rtl="0" algn="l">
              <a:spcBef>
                <a:spcPts val="0"/>
              </a:spcBef>
              <a:spcAft>
                <a:spcPts val="0"/>
              </a:spcAft>
              <a:buNone/>
            </a:pPr>
            <a:r>
              <a:rPr b="1" lang="en-US" sz="1600">
                <a:solidFill>
                  <a:schemeClr val="dk1"/>
                </a:solidFill>
                <a:latin typeface="Calibri"/>
                <a:ea typeface="Calibri"/>
                <a:cs typeface="Calibri"/>
                <a:sym typeface="Calibri"/>
              </a:rPr>
              <a:t>Sources of Data:</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Meteorological Agencies: </a:t>
            </a:r>
            <a:r>
              <a:rPr lang="en-US" sz="1400">
                <a:solidFill>
                  <a:schemeClr val="dk1"/>
                </a:solidFill>
                <a:latin typeface="Calibri"/>
                <a:ea typeface="Calibri"/>
                <a:cs typeface="Calibri"/>
                <a:sym typeface="Calibri"/>
              </a:rPr>
              <a:t>Climate metrics from weather stations and satellites</a:t>
            </a:r>
            <a:r>
              <a:rPr b="1" lang="en-US" sz="1400">
                <a:solidFill>
                  <a:schemeClr val="dk1"/>
                </a:solidFill>
                <a:latin typeface="Calibri"/>
                <a:ea typeface="Calibri"/>
                <a:cs typeface="Calibri"/>
                <a:sym typeface="Calibri"/>
              </a:rPr>
              <a:t>.</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Environmental Organizations: </a:t>
            </a:r>
            <a:r>
              <a:rPr lang="en-US" sz="1400">
                <a:solidFill>
                  <a:schemeClr val="dk1"/>
                </a:solidFill>
                <a:latin typeface="Calibri"/>
                <a:ea typeface="Calibri"/>
                <a:cs typeface="Calibri"/>
                <a:sym typeface="Calibri"/>
              </a:rPr>
              <a:t>Data on CO2 levels, deforestation, and biodiversity.</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Government Reports: </a:t>
            </a:r>
            <a:r>
              <a:rPr lang="en-US" sz="1400">
                <a:solidFill>
                  <a:schemeClr val="dk1"/>
                </a:solidFill>
                <a:latin typeface="Calibri"/>
                <a:ea typeface="Calibri"/>
                <a:cs typeface="Calibri"/>
                <a:sym typeface="Calibri"/>
              </a:rPr>
              <a:t>Official climate statistics and emission inventories.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Research Institutions: </a:t>
            </a:r>
            <a:r>
              <a:rPr lang="en-US" sz="1400">
                <a:solidFill>
                  <a:schemeClr val="dk1"/>
                </a:solidFill>
                <a:latin typeface="Calibri"/>
                <a:ea typeface="Calibri"/>
                <a:cs typeface="Calibri"/>
                <a:sym typeface="Calibri"/>
              </a:rPr>
              <a:t>Academic studies on climate models and observations.</a:t>
            </a:r>
            <a:endParaRPr/>
          </a:p>
          <a:p>
            <a:pPr indent="0" lvl="0" marL="12065" marR="0" rtl="0" algn="l">
              <a:spcBef>
                <a:spcPts val="100"/>
              </a:spcBef>
              <a:spcAft>
                <a:spcPts val="0"/>
              </a:spcAft>
              <a:buNone/>
            </a:pPr>
            <a:r>
              <a:t/>
            </a:r>
            <a:endParaRPr sz="1200">
              <a:solidFill>
                <a:schemeClr val="dk1"/>
              </a:solidFill>
              <a:latin typeface="Calibri"/>
              <a:ea typeface="Calibri"/>
              <a:cs typeface="Calibri"/>
              <a:sym typeface="Calibri"/>
            </a:endParaRPr>
          </a:p>
          <a:p>
            <a:pPr indent="0" lvl="0" marL="12065" marR="0" rtl="0" algn="l">
              <a:spcBef>
                <a:spcPts val="100"/>
              </a:spcBef>
              <a:spcAft>
                <a:spcPts val="0"/>
              </a:spcAft>
              <a:buNone/>
            </a:pPr>
            <a:r>
              <a:rPr b="1" lang="en-US" sz="1600">
                <a:solidFill>
                  <a:schemeClr val="dk1"/>
                </a:solidFill>
                <a:latin typeface="Calibri"/>
                <a:ea typeface="Calibri"/>
                <a:cs typeface="Calibri"/>
                <a:sym typeface="Calibri"/>
              </a:rPr>
              <a:t>Data Description:</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Temperature Records: </a:t>
            </a:r>
            <a:r>
              <a:rPr lang="en-US" sz="1400">
                <a:solidFill>
                  <a:schemeClr val="dk1"/>
                </a:solidFill>
                <a:latin typeface="Calibri"/>
                <a:ea typeface="Calibri"/>
                <a:cs typeface="Calibri"/>
                <a:sym typeface="Calibri"/>
              </a:rPr>
              <a:t>Annual and monthly global and regional temperature trends.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CO2 Emissions: </a:t>
            </a:r>
            <a:r>
              <a:rPr lang="en-US" sz="1400">
                <a:solidFill>
                  <a:schemeClr val="dk1"/>
                </a:solidFill>
                <a:latin typeface="Calibri"/>
                <a:ea typeface="Calibri"/>
                <a:cs typeface="Calibri"/>
                <a:sym typeface="Calibri"/>
              </a:rPr>
              <a:t>Data from various sectors like transportation and industry</a:t>
            </a:r>
            <a:r>
              <a:rPr b="1" lang="en-US" sz="1400">
                <a:solidFill>
                  <a:schemeClr val="dk1"/>
                </a:solidFill>
                <a:latin typeface="Calibri"/>
                <a:ea typeface="Calibri"/>
                <a:cs typeface="Calibri"/>
                <a:sym typeface="Calibri"/>
              </a:rPr>
              <a:t>.</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Sea Level Rise: </a:t>
            </a:r>
            <a:r>
              <a:rPr lang="en-US" sz="1400">
                <a:solidFill>
                  <a:schemeClr val="dk1"/>
                </a:solidFill>
                <a:latin typeface="Calibri"/>
                <a:ea typeface="Calibri"/>
                <a:cs typeface="Calibri"/>
                <a:sym typeface="Calibri"/>
              </a:rPr>
              <a:t>Yearly measurements from tide gauges and satellites.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Extreme Weather Events: </a:t>
            </a:r>
            <a:r>
              <a:rPr lang="en-US" sz="1400">
                <a:solidFill>
                  <a:schemeClr val="dk1"/>
                </a:solidFill>
                <a:latin typeface="Calibri"/>
                <a:ea typeface="Calibri"/>
                <a:cs typeface="Calibri"/>
                <a:sym typeface="Calibri"/>
              </a:rPr>
              <a:t>Frequency and intensity of events such as hurricanes and floods.</a:t>
            </a:r>
            <a:endParaRPr/>
          </a:p>
          <a:p>
            <a:pPr indent="0" lvl="0" marL="12065" marR="0" rtl="0" algn="l">
              <a:spcBef>
                <a:spcPts val="100"/>
              </a:spcBef>
              <a:spcAft>
                <a:spcPts val="0"/>
              </a:spcAft>
              <a:buNone/>
            </a:pPr>
            <a:r>
              <a:t/>
            </a:r>
            <a:endParaRPr b="1" sz="1200">
              <a:solidFill>
                <a:schemeClr val="dk1"/>
              </a:solidFill>
              <a:latin typeface="Calibri"/>
              <a:ea typeface="Calibri"/>
              <a:cs typeface="Calibri"/>
              <a:sym typeface="Calibri"/>
            </a:endParaRPr>
          </a:p>
          <a:p>
            <a:pPr indent="0" lvl="0" marL="12065" marR="0" rtl="0" algn="l">
              <a:spcBef>
                <a:spcPts val="100"/>
              </a:spcBef>
              <a:spcAft>
                <a:spcPts val="0"/>
              </a:spcAft>
              <a:buNone/>
            </a:pPr>
            <a:r>
              <a:rPr b="1" lang="en-US" sz="1600">
                <a:solidFill>
                  <a:schemeClr val="dk1"/>
                </a:solidFill>
                <a:latin typeface="Calibri"/>
                <a:ea typeface="Calibri"/>
                <a:cs typeface="Calibri"/>
                <a:sym typeface="Calibri"/>
              </a:rPr>
              <a:t>Data Collection Methods: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Historical Records: </a:t>
            </a:r>
            <a:r>
              <a:rPr lang="en-US" sz="1400">
                <a:solidFill>
                  <a:schemeClr val="dk1"/>
                </a:solidFill>
                <a:latin typeface="Calibri"/>
                <a:ea typeface="Calibri"/>
                <a:cs typeface="Calibri"/>
                <a:sym typeface="Calibri"/>
              </a:rPr>
              <a:t>Archived climate data for long-term trends.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Satellite Observations: </a:t>
            </a:r>
            <a:r>
              <a:rPr lang="en-US" sz="1400">
                <a:solidFill>
                  <a:schemeClr val="dk1"/>
                </a:solidFill>
                <a:latin typeface="Calibri"/>
                <a:ea typeface="Calibri"/>
                <a:cs typeface="Calibri"/>
                <a:sym typeface="Calibri"/>
              </a:rPr>
              <a:t>Measurement of temperature, CO2, and sea levels.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Surveys and Field Data: </a:t>
            </a:r>
            <a:r>
              <a:rPr lang="en-US" sz="1400">
                <a:solidFill>
                  <a:schemeClr val="dk1"/>
                </a:solidFill>
                <a:latin typeface="Calibri"/>
                <a:ea typeface="Calibri"/>
                <a:cs typeface="Calibri"/>
                <a:sym typeface="Calibri"/>
              </a:rPr>
              <a:t>Direct data collection from on-the-ground studies.</a:t>
            </a:r>
            <a:endParaRPr/>
          </a:p>
          <a:p>
            <a:pPr indent="-285750" lvl="0" marL="297815" marR="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Remote Sensing: </a:t>
            </a:r>
            <a:r>
              <a:rPr lang="en-US" sz="1400">
                <a:solidFill>
                  <a:schemeClr val="dk1"/>
                </a:solidFill>
                <a:latin typeface="Calibri"/>
                <a:ea typeface="Calibri"/>
                <a:cs typeface="Calibri"/>
                <a:sym typeface="Calibri"/>
              </a:rPr>
              <a:t>Detailed monitoring of climate variables using advanced technology.</a:t>
            </a:r>
            <a:endParaRPr sz="1400">
              <a:solidFill>
                <a:schemeClr val="dk1"/>
              </a:solidFill>
              <a:latin typeface="Calibri"/>
              <a:ea typeface="Calibri"/>
              <a:cs typeface="Calibri"/>
              <a:sym typeface="Calibri"/>
            </a:endParaRPr>
          </a:p>
        </p:txBody>
      </p:sp>
      <p:grpSp>
        <p:nvGrpSpPr>
          <p:cNvPr id="97" name="Google Shape;97;p5"/>
          <p:cNvGrpSpPr/>
          <p:nvPr/>
        </p:nvGrpSpPr>
        <p:grpSpPr>
          <a:xfrm>
            <a:off x="0" y="4976700"/>
            <a:ext cx="9144000" cy="167005"/>
            <a:chOff x="0" y="4976700"/>
            <a:chExt cx="9144000" cy="167005"/>
          </a:xfrm>
        </p:grpSpPr>
        <p:sp>
          <p:nvSpPr>
            <p:cNvPr id="98" name="Google Shape;98;p5"/>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5"/>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1000"/>
                                        <p:tgtEl>
                                          <p:spTgt spid="95"/>
                                        </p:tgtEl>
                                        <p:attrNameLst>
                                          <p:attrName>ppt_w</p:attrName>
                                        </p:attrNameLst>
                                      </p:cBhvr>
                                      <p:tavLst>
                                        <p:tav fmla="" tm="0">
                                          <p:val>
                                            <p:strVal val="0"/>
                                          </p:val>
                                        </p:tav>
                                        <p:tav fmla="" tm="100000">
                                          <p:val>
                                            <p:strVal val="#ppt_w"/>
                                          </p:val>
                                        </p:tav>
                                      </p:tavLst>
                                    </p:anim>
                                    <p:anim calcmode="lin" valueType="num">
                                      <p:cBhvr additive="base">
                                        <p:cTn dur="1000"/>
                                        <p:tgtEl>
                                          <p:spTgt spid="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Effect filter="fade" transition="in">
                                      <p:cBhvr>
                                        <p:cTn dur="1000"/>
                                        <p:tgtEl>
                                          <p:spTgt spid="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Effect filter="fade" transition="in">
                                      <p:cBhvr>
                                        <p:cTn dur="1000"/>
                                        <p:tgtEl>
                                          <p:spTgt spid="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Effect filter="fade" transition="in">
                                      <p:cBhvr>
                                        <p:cTn dur="1000"/>
                                        <p:tgtEl>
                                          <p:spTgt spid="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Effect filter="fade" transition="in">
                                      <p:cBhvr>
                                        <p:cTn dur="1000"/>
                                        <p:tgtEl>
                                          <p:spTgt spid="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Effect filter="fade" transition="in">
                                      <p:cBhvr>
                                        <p:cTn dur="1000"/>
                                        <p:tgtEl>
                                          <p:spTgt spid="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Effect filter="fade" transition="in">
                                      <p:cBhvr>
                                        <p:cTn dur="1000"/>
                                        <p:tgtEl>
                                          <p:spTgt spid="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animEffect filter="fade" transition="in">
                                      <p:cBhvr>
                                        <p:cTn dur="1000"/>
                                        <p:tgtEl>
                                          <p:spTgt spid="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animEffect filter="fade" transition="in">
                                      <p:cBhvr>
                                        <p:cTn dur="1000"/>
                                        <p:tgtEl>
                                          <p:spTgt spid="9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8" st="8"/>
                                            </p:txEl>
                                          </p:spTgt>
                                        </p:tgtEl>
                                        <p:attrNameLst>
                                          <p:attrName>style.visibility</p:attrName>
                                        </p:attrNameLst>
                                      </p:cBhvr>
                                      <p:to>
                                        <p:strVal val="visible"/>
                                      </p:to>
                                    </p:set>
                                    <p:animEffect filter="fade" transition="in">
                                      <p:cBhvr>
                                        <p:cTn dur="1000"/>
                                        <p:tgtEl>
                                          <p:spTgt spid="9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9" st="9"/>
                                            </p:txEl>
                                          </p:spTgt>
                                        </p:tgtEl>
                                        <p:attrNameLst>
                                          <p:attrName>style.visibility</p:attrName>
                                        </p:attrNameLst>
                                      </p:cBhvr>
                                      <p:to>
                                        <p:strVal val="visible"/>
                                      </p:to>
                                    </p:set>
                                    <p:animEffect filter="fade" transition="in">
                                      <p:cBhvr>
                                        <p:cTn dur="1000"/>
                                        <p:tgtEl>
                                          <p:spTgt spid="9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0" st="10"/>
                                            </p:txEl>
                                          </p:spTgt>
                                        </p:tgtEl>
                                        <p:attrNameLst>
                                          <p:attrName>style.visibility</p:attrName>
                                        </p:attrNameLst>
                                      </p:cBhvr>
                                      <p:to>
                                        <p:strVal val="visible"/>
                                      </p:to>
                                    </p:set>
                                    <p:animEffect filter="fade" transition="in">
                                      <p:cBhvr>
                                        <p:cTn dur="1000"/>
                                        <p:tgtEl>
                                          <p:spTgt spid="9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1" st="11"/>
                                            </p:txEl>
                                          </p:spTgt>
                                        </p:tgtEl>
                                        <p:attrNameLst>
                                          <p:attrName>style.visibility</p:attrName>
                                        </p:attrNameLst>
                                      </p:cBhvr>
                                      <p:to>
                                        <p:strVal val="visible"/>
                                      </p:to>
                                    </p:set>
                                    <p:animEffect filter="fade" transition="in">
                                      <p:cBhvr>
                                        <p:cTn dur="1000"/>
                                        <p:tgtEl>
                                          <p:spTgt spid="9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2" st="12"/>
                                            </p:txEl>
                                          </p:spTgt>
                                        </p:tgtEl>
                                        <p:attrNameLst>
                                          <p:attrName>style.visibility</p:attrName>
                                        </p:attrNameLst>
                                      </p:cBhvr>
                                      <p:to>
                                        <p:strVal val="visible"/>
                                      </p:to>
                                    </p:set>
                                    <p:animEffect filter="fade" transition="in">
                                      <p:cBhvr>
                                        <p:cTn dur="1000"/>
                                        <p:tgtEl>
                                          <p:spTgt spid="9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3" st="13"/>
                                            </p:txEl>
                                          </p:spTgt>
                                        </p:tgtEl>
                                        <p:attrNameLst>
                                          <p:attrName>style.visibility</p:attrName>
                                        </p:attrNameLst>
                                      </p:cBhvr>
                                      <p:to>
                                        <p:strVal val="visible"/>
                                      </p:to>
                                    </p:set>
                                    <p:animEffect filter="fade" transition="in">
                                      <p:cBhvr>
                                        <p:cTn dur="1000"/>
                                        <p:tgtEl>
                                          <p:spTgt spid="9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4" st="14"/>
                                            </p:txEl>
                                          </p:spTgt>
                                        </p:tgtEl>
                                        <p:attrNameLst>
                                          <p:attrName>style.visibility</p:attrName>
                                        </p:attrNameLst>
                                      </p:cBhvr>
                                      <p:to>
                                        <p:strVal val="visible"/>
                                      </p:to>
                                    </p:set>
                                    <p:animEffect filter="fade" transition="in">
                                      <p:cBhvr>
                                        <p:cTn dur="1000"/>
                                        <p:tgtEl>
                                          <p:spTgt spid="9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5" st="15"/>
                                            </p:txEl>
                                          </p:spTgt>
                                        </p:tgtEl>
                                        <p:attrNameLst>
                                          <p:attrName>style.visibility</p:attrName>
                                        </p:attrNameLst>
                                      </p:cBhvr>
                                      <p:to>
                                        <p:strVal val="visible"/>
                                      </p:to>
                                    </p:set>
                                    <p:animEffect filter="fade" transition="in">
                                      <p:cBhvr>
                                        <p:cTn dur="1000"/>
                                        <p:tgtEl>
                                          <p:spTgt spid="9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6" st="16"/>
                                            </p:txEl>
                                          </p:spTgt>
                                        </p:tgtEl>
                                        <p:attrNameLst>
                                          <p:attrName>style.visibility</p:attrName>
                                        </p:attrNameLst>
                                      </p:cBhvr>
                                      <p:to>
                                        <p:strVal val="visible"/>
                                      </p:to>
                                    </p:set>
                                    <p:animEffect filter="fade" transition="in">
                                      <p:cBhvr>
                                        <p:cTn dur="1000"/>
                                        <p:tgtEl>
                                          <p:spTgt spid="96">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 name="Shape 103"/>
        <p:cNvGrpSpPr/>
        <p:nvPr/>
      </p:nvGrpSpPr>
      <p:grpSpPr>
        <a:xfrm>
          <a:off x="0" y="0"/>
          <a:ext cx="0" cy="0"/>
          <a:chOff x="0" y="0"/>
          <a:chExt cx="0" cy="0"/>
        </a:xfrm>
      </p:grpSpPr>
      <p:sp>
        <p:nvSpPr>
          <p:cNvPr id="104" name="Google Shape;104;p6"/>
          <p:cNvSpPr txBox="1"/>
          <p:nvPr>
            <p:ph type="title"/>
          </p:nvPr>
        </p:nvSpPr>
        <p:spPr>
          <a:xfrm>
            <a:off x="229525" y="191156"/>
            <a:ext cx="205867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Data Preprocessing</a:t>
            </a:r>
            <a:endParaRPr/>
          </a:p>
        </p:txBody>
      </p:sp>
      <p:sp>
        <p:nvSpPr>
          <p:cNvPr id="105" name="Google Shape;105;p6"/>
          <p:cNvSpPr txBox="1"/>
          <p:nvPr/>
        </p:nvSpPr>
        <p:spPr>
          <a:xfrm>
            <a:off x="457200" y="666750"/>
            <a:ext cx="8077200" cy="4162678"/>
          </a:xfrm>
          <a:prstGeom prst="rect">
            <a:avLst/>
          </a:prstGeom>
          <a:noFill/>
          <a:ln>
            <a:noFill/>
          </a:ln>
        </p:spPr>
        <p:txBody>
          <a:bodyPr anchorCtr="0" anchor="t" bIns="0" lIns="0" spcFirstLastPara="1" rIns="0" wrap="square" tIns="12700">
            <a:spAutoFit/>
          </a:bodyPr>
          <a:lstStyle/>
          <a:p>
            <a:pPr indent="0" lvl="0" marL="12065" marR="627380" rtl="0" algn="l">
              <a:lnSpc>
                <a:spcPct val="100000"/>
              </a:lnSpc>
              <a:spcBef>
                <a:spcPts val="0"/>
              </a:spcBef>
              <a:spcAft>
                <a:spcPts val="0"/>
              </a:spcAft>
              <a:buNone/>
            </a:pPr>
            <a:r>
              <a:rPr b="1" lang="en-US" sz="1600">
                <a:solidFill>
                  <a:schemeClr val="dk1"/>
                </a:solidFill>
                <a:latin typeface="Calibri"/>
                <a:ea typeface="Calibri"/>
                <a:cs typeface="Calibri"/>
                <a:sym typeface="Calibri"/>
              </a:rPr>
              <a:t>Data Cleaning Methods: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Standardization:</a:t>
            </a:r>
            <a:r>
              <a:rPr b="1" lang="en-US" sz="16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Ensuring consistency in units, formats, and scales across the dataset.</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Outlier Detection: </a:t>
            </a:r>
            <a:r>
              <a:rPr lang="en-US" sz="1400">
                <a:solidFill>
                  <a:schemeClr val="dk1"/>
                </a:solidFill>
                <a:latin typeface="Calibri"/>
                <a:ea typeface="Calibri"/>
                <a:cs typeface="Calibri"/>
                <a:sym typeface="Calibri"/>
              </a:rPr>
              <a:t>Identifying and addressing anomalous data points that could skew analysis.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Duplicate Removal: </a:t>
            </a:r>
            <a:r>
              <a:rPr lang="en-US" sz="1400">
                <a:solidFill>
                  <a:schemeClr val="dk1"/>
                </a:solidFill>
                <a:latin typeface="Calibri"/>
                <a:ea typeface="Calibri"/>
                <a:cs typeface="Calibri"/>
                <a:sym typeface="Calibri"/>
              </a:rPr>
              <a:t>Eliminating redundant data entries to maintain data integrity.</a:t>
            </a:r>
            <a:endParaRPr/>
          </a:p>
          <a:p>
            <a:pPr indent="0" lvl="0" marL="12065" marR="627380" rtl="0" algn="l">
              <a:lnSpc>
                <a:spcPct val="100000"/>
              </a:lnSpc>
              <a:spcBef>
                <a:spcPts val="100"/>
              </a:spcBef>
              <a:spcAft>
                <a:spcPts val="0"/>
              </a:spcAft>
              <a:buNone/>
            </a:pPr>
            <a:r>
              <a:t/>
            </a:r>
            <a:endParaRPr sz="1200">
              <a:solidFill>
                <a:schemeClr val="dk1"/>
              </a:solidFill>
              <a:latin typeface="Calibri"/>
              <a:ea typeface="Calibri"/>
              <a:cs typeface="Calibri"/>
              <a:sym typeface="Calibri"/>
            </a:endParaRPr>
          </a:p>
          <a:p>
            <a:pPr indent="0" lvl="0" marL="12065" marR="627380" rtl="0" algn="l">
              <a:lnSpc>
                <a:spcPct val="100000"/>
              </a:lnSpc>
              <a:spcBef>
                <a:spcPts val="100"/>
              </a:spcBef>
              <a:spcAft>
                <a:spcPts val="0"/>
              </a:spcAft>
              <a:buNone/>
            </a:pPr>
            <a:r>
              <a:rPr b="1" lang="en-US" sz="1600">
                <a:solidFill>
                  <a:schemeClr val="dk1"/>
                </a:solidFill>
                <a:latin typeface="Calibri"/>
                <a:ea typeface="Calibri"/>
                <a:cs typeface="Calibri"/>
                <a:sym typeface="Calibri"/>
              </a:rPr>
              <a:t>Handling Missing Values: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Imputation: </a:t>
            </a:r>
            <a:r>
              <a:rPr lang="en-US" sz="1400">
                <a:solidFill>
                  <a:schemeClr val="dk1"/>
                </a:solidFill>
                <a:latin typeface="Calibri"/>
                <a:ea typeface="Calibri"/>
                <a:cs typeface="Calibri"/>
                <a:sym typeface="Calibri"/>
              </a:rPr>
              <a:t>Filling in missing data using methods like mean, median, or mode values.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Deletion: </a:t>
            </a:r>
            <a:r>
              <a:rPr lang="en-US" sz="1400">
                <a:solidFill>
                  <a:schemeClr val="dk1"/>
                </a:solidFill>
                <a:latin typeface="Calibri"/>
                <a:ea typeface="Calibri"/>
                <a:cs typeface="Calibri"/>
                <a:sym typeface="Calibri"/>
              </a:rPr>
              <a:t>Removing records with missing values if they represent a small portion of the dataset.</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Prediction: </a:t>
            </a:r>
            <a:r>
              <a:rPr lang="en-US" sz="1400">
                <a:solidFill>
                  <a:schemeClr val="dk1"/>
                </a:solidFill>
                <a:latin typeface="Calibri"/>
                <a:ea typeface="Calibri"/>
                <a:cs typeface="Calibri"/>
                <a:sym typeface="Calibri"/>
              </a:rPr>
              <a:t>Using algorithms to predict and replace missing values based on other available data.</a:t>
            </a:r>
            <a:endParaRPr/>
          </a:p>
          <a:p>
            <a:pPr indent="0" lvl="0" marL="12065" marR="627380" rtl="0" algn="l">
              <a:lnSpc>
                <a:spcPct val="100000"/>
              </a:lnSpc>
              <a:spcBef>
                <a:spcPts val="100"/>
              </a:spcBef>
              <a:spcAft>
                <a:spcPts val="0"/>
              </a:spcAft>
              <a:buNone/>
            </a:pPr>
            <a:r>
              <a:t/>
            </a:r>
            <a:endParaRPr sz="1200">
              <a:solidFill>
                <a:schemeClr val="dk1"/>
              </a:solidFill>
              <a:latin typeface="Calibri"/>
              <a:ea typeface="Calibri"/>
              <a:cs typeface="Calibri"/>
              <a:sym typeface="Calibri"/>
            </a:endParaRPr>
          </a:p>
          <a:p>
            <a:pPr indent="0" lvl="0" marL="12065" marR="627380" rtl="0" algn="l">
              <a:lnSpc>
                <a:spcPct val="100000"/>
              </a:lnSpc>
              <a:spcBef>
                <a:spcPts val="100"/>
              </a:spcBef>
              <a:spcAft>
                <a:spcPts val="0"/>
              </a:spcAft>
              <a:buNone/>
            </a:pPr>
            <a:r>
              <a:rPr b="1" lang="en-US" sz="1600">
                <a:solidFill>
                  <a:schemeClr val="dk1"/>
                </a:solidFill>
                <a:latin typeface="Calibri"/>
                <a:ea typeface="Calibri"/>
                <a:cs typeface="Calibri"/>
                <a:sym typeface="Calibri"/>
              </a:rPr>
              <a:t>Data Transformation Techniques: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Normalization: </a:t>
            </a:r>
            <a:r>
              <a:rPr lang="en-US" sz="1400">
                <a:solidFill>
                  <a:schemeClr val="dk1"/>
                </a:solidFill>
                <a:latin typeface="Calibri"/>
                <a:ea typeface="Calibri"/>
                <a:cs typeface="Calibri"/>
                <a:sym typeface="Calibri"/>
              </a:rPr>
              <a:t>Scaling data to a standard range to improve the performance of machine learning algorithms.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Aggregation: </a:t>
            </a:r>
            <a:r>
              <a:rPr lang="en-US" sz="1400">
                <a:solidFill>
                  <a:schemeClr val="dk1"/>
                </a:solidFill>
                <a:latin typeface="Calibri"/>
                <a:ea typeface="Calibri"/>
                <a:cs typeface="Calibri"/>
                <a:sym typeface="Calibri"/>
              </a:rPr>
              <a:t>Summarizing data to create new variables or insights, such as monthly averages from daily records.</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Encoding: </a:t>
            </a:r>
            <a:r>
              <a:rPr lang="en-US" sz="1400">
                <a:solidFill>
                  <a:schemeClr val="dk1"/>
                </a:solidFill>
                <a:latin typeface="Calibri"/>
                <a:ea typeface="Calibri"/>
                <a:cs typeface="Calibri"/>
                <a:sym typeface="Calibri"/>
              </a:rPr>
              <a:t>Converting categorical data into numerical values using techniques like one-hot encoding or label encoding.</a:t>
            </a:r>
            <a:endParaRPr/>
          </a:p>
          <a:p>
            <a:pPr indent="-367030" lvl="0" marL="37909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Feature Engineering: </a:t>
            </a:r>
            <a:r>
              <a:rPr lang="en-US" sz="1400">
                <a:solidFill>
                  <a:schemeClr val="dk1"/>
                </a:solidFill>
                <a:latin typeface="Calibri"/>
                <a:ea typeface="Calibri"/>
                <a:cs typeface="Calibri"/>
                <a:sym typeface="Calibri"/>
              </a:rPr>
              <a:t>Creating new features from existing data to enhance predictive models.</a:t>
            </a:r>
            <a:endParaRPr/>
          </a:p>
        </p:txBody>
      </p:sp>
      <p:grpSp>
        <p:nvGrpSpPr>
          <p:cNvPr id="106" name="Google Shape;106;p6"/>
          <p:cNvGrpSpPr/>
          <p:nvPr/>
        </p:nvGrpSpPr>
        <p:grpSpPr>
          <a:xfrm>
            <a:off x="0" y="4976700"/>
            <a:ext cx="9144000" cy="167005"/>
            <a:chOff x="0" y="4976700"/>
            <a:chExt cx="9144000" cy="167005"/>
          </a:xfrm>
        </p:grpSpPr>
        <p:sp>
          <p:nvSpPr>
            <p:cNvPr id="107" name="Google Shape;107;p6"/>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6"/>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1000"/>
                                        <p:tgtEl>
                                          <p:spTgt spid="104"/>
                                        </p:tgtEl>
                                        <p:attrNameLst>
                                          <p:attrName>ppt_w</p:attrName>
                                        </p:attrNameLst>
                                      </p:cBhvr>
                                      <p:tavLst>
                                        <p:tav fmla="" tm="0">
                                          <p:val>
                                            <p:strVal val="0"/>
                                          </p:val>
                                        </p:tav>
                                        <p:tav fmla="" tm="100000">
                                          <p:val>
                                            <p:strVal val="#ppt_w"/>
                                          </p:val>
                                        </p:tav>
                                      </p:tavLst>
                                    </p:anim>
                                    <p:anim calcmode="lin" valueType="num">
                                      <p:cBhvr additive="base">
                                        <p:cTn dur="1000"/>
                                        <p:tgtEl>
                                          <p:spTgt spid="1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10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10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1000"/>
                                        <p:tgtEl>
                                          <p:spTgt spid="1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animEffect filter="fade" transition="in">
                                      <p:cBhvr>
                                        <p:cTn dur="1000"/>
                                        <p:tgtEl>
                                          <p:spTgt spid="1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animEffect filter="fade" transition="in">
                                      <p:cBhvr>
                                        <p:cTn dur="1000"/>
                                        <p:tgtEl>
                                          <p:spTgt spid="1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animEffect filter="fade" transition="in">
                                      <p:cBhvr>
                                        <p:cTn dur="1000"/>
                                        <p:tgtEl>
                                          <p:spTgt spid="1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animEffect filter="fade" transition="in">
                                      <p:cBhvr>
                                        <p:cTn dur="1000"/>
                                        <p:tgtEl>
                                          <p:spTgt spid="1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9" st="9"/>
                                            </p:txEl>
                                          </p:spTgt>
                                        </p:tgtEl>
                                        <p:attrNameLst>
                                          <p:attrName>style.visibility</p:attrName>
                                        </p:attrNameLst>
                                      </p:cBhvr>
                                      <p:to>
                                        <p:strVal val="visible"/>
                                      </p:to>
                                    </p:set>
                                    <p:animEffect filter="fade" transition="in">
                                      <p:cBhvr>
                                        <p:cTn dur="1000"/>
                                        <p:tgtEl>
                                          <p:spTgt spid="10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0" st="10"/>
                                            </p:txEl>
                                          </p:spTgt>
                                        </p:tgtEl>
                                        <p:attrNameLst>
                                          <p:attrName>style.visibility</p:attrName>
                                        </p:attrNameLst>
                                      </p:cBhvr>
                                      <p:to>
                                        <p:strVal val="visible"/>
                                      </p:to>
                                    </p:set>
                                    <p:animEffect filter="fade" transition="in">
                                      <p:cBhvr>
                                        <p:cTn dur="1000"/>
                                        <p:tgtEl>
                                          <p:spTgt spid="10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1" st="11"/>
                                            </p:txEl>
                                          </p:spTgt>
                                        </p:tgtEl>
                                        <p:attrNameLst>
                                          <p:attrName>style.visibility</p:attrName>
                                        </p:attrNameLst>
                                      </p:cBhvr>
                                      <p:to>
                                        <p:strVal val="visible"/>
                                      </p:to>
                                    </p:set>
                                    <p:animEffect filter="fade" transition="in">
                                      <p:cBhvr>
                                        <p:cTn dur="1000"/>
                                        <p:tgtEl>
                                          <p:spTgt spid="10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2" st="12"/>
                                            </p:txEl>
                                          </p:spTgt>
                                        </p:tgtEl>
                                        <p:attrNameLst>
                                          <p:attrName>style.visibility</p:attrName>
                                        </p:attrNameLst>
                                      </p:cBhvr>
                                      <p:to>
                                        <p:strVal val="visible"/>
                                      </p:to>
                                    </p:set>
                                    <p:animEffect filter="fade" transition="in">
                                      <p:cBhvr>
                                        <p:cTn dur="1000"/>
                                        <p:tgtEl>
                                          <p:spTgt spid="10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3" st="13"/>
                                            </p:txEl>
                                          </p:spTgt>
                                        </p:tgtEl>
                                        <p:attrNameLst>
                                          <p:attrName>style.visibility</p:attrName>
                                        </p:attrNameLst>
                                      </p:cBhvr>
                                      <p:to>
                                        <p:strVal val="visible"/>
                                      </p:to>
                                    </p:set>
                                    <p:animEffect filter="fade" transition="in">
                                      <p:cBhvr>
                                        <p:cTn dur="1000"/>
                                        <p:tgtEl>
                                          <p:spTgt spid="10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4" st="14"/>
                                            </p:txEl>
                                          </p:spTgt>
                                        </p:tgtEl>
                                        <p:attrNameLst>
                                          <p:attrName>style.visibility</p:attrName>
                                        </p:attrNameLst>
                                      </p:cBhvr>
                                      <p:to>
                                        <p:strVal val="visible"/>
                                      </p:to>
                                    </p:set>
                                    <p:animEffect filter="fade" transition="in">
                                      <p:cBhvr>
                                        <p:cTn dur="1000"/>
                                        <p:tgtEl>
                                          <p:spTgt spid="105">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 name="Shape 112"/>
        <p:cNvGrpSpPr/>
        <p:nvPr/>
      </p:nvGrpSpPr>
      <p:grpSpPr>
        <a:xfrm>
          <a:off x="0" y="0"/>
          <a:ext cx="0" cy="0"/>
          <a:chOff x="0" y="0"/>
          <a:chExt cx="0" cy="0"/>
        </a:xfrm>
      </p:grpSpPr>
      <p:sp>
        <p:nvSpPr>
          <p:cNvPr id="113" name="Google Shape;113;p7"/>
          <p:cNvSpPr txBox="1"/>
          <p:nvPr/>
        </p:nvSpPr>
        <p:spPr>
          <a:xfrm>
            <a:off x="208675" y="180730"/>
            <a:ext cx="144526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Data Analysis</a:t>
            </a:r>
            <a:endParaRPr sz="1800">
              <a:solidFill>
                <a:schemeClr val="dk1"/>
              </a:solidFill>
              <a:latin typeface="Verdana"/>
              <a:ea typeface="Verdana"/>
              <a:cs typeface="Verdana"/>
              <a:sym typeface="Verdana"/>
            </a:endParaRPr>
          </a:p>
        </p:txBody>
      </p:sp>
      <p:sp>
        <p:nvSpPr>
          <p:cNvPr id="114" name="Google Shape;114;p7"/>
          <p:cNvSpPr txBox="1"/>
          <p:nvPr/>
        </p:nvSpPr>
        <p:spPr>
          <a:xfrm>
            <a:off x="222101" y="526920"/>
            <a:ext cx="9601200" cy="4452501"/>
          </a:xfrm>
          <a:prstGeom prst="rect">
            <a:avLst/>
          </a:prstGeom>
          <a:noFill/>
          <a:ln>
            <a:noFill/>
          </a:ln>
        </p:spPr>
        <p:txBody>
          <a:bodyPr anchorCtr="0" anchor="t" bIns="0" lIns="0" spcFirstLastPara="1" rIns="0" wrap="square" tIns="12700">
            <a:spAutoFit/>
          </a:bodyPr>
          <a:lstStyle/>
          <a:p>
            <a:pPr indent="0" lvl="0" marL="12065" marR="627380" rtl="0" algn="l">
              <a:spcBef>
                <a:spcPts val="0"/>
              </a:spcBef>
              <a:spcAft>
                <a:spcPts val="0"/>
              </a:spcAft>
              <a:buNone/>
            </a:pPr>
            <a:r>
              <a:rPr b="1" lang="en-US" sz="1600">
                <a:solidFill>
                  <a:schemeClr val="dk1"/>
                </a:solidFill>
                <a:latin typeface="Calibri"/>
                <a:ea typeface="Calibri"/>
                <a:cs typeface="Calibri"/>
                <a:sym typeface="Calibri"/>
              </a:rPr>
              <a:t>Analytical Tools and Methods Used:</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Python (NumPy &amp; Pandas):</a:t>
            </a:r>
            <a:r>
              <a:rPr b="1" lang="en-US" sz="16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For data manipulation, cleaning, and analysis.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Power BI: </a:t>
            </a:r>
            <a:r>
              <a:rPr lang="en-US" sz="1400">
                <a:solidFill>
                  <a:schemeClr val="dk1"/>
                </a:solidFill>
                <a:latin typeface="Calibri"/>
                <a:ea typeface="Calibri"/>
                <a:cs typeface="Calibri"/>
                <a:sym typeface="Calibri"/>
              </a:rPr>
              <a:t>For creating interactive dashboards and visualizations.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Seaborn &amp; Matplotlib: </a:t>
            </a:r>
            <a:r>
              <a:rPr lang="en-US" sz="1400">
                <a:solidFill>
                  <a:schemeClr val="dk1"/>
                </a:solidFill>
                <a:latin typeface="Calibri"/>
                <a:ea typeface="Calibri"/>
                <a:cs typeface="Calibri"/>
                <a:sym typeface="Calibri"/>
              </a:rPr>
              <a:t>For detailed data visualization and trend analysis.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Machine Learning Algorithms: </a:t>
            </a:r>
            <a:r>
              <a:rPr lang="en-US" sz="1400">
                <a:solidFill>
                  <a:schemeClr val="dk1"/>
                </a:solidFill>
                <a:latin typeface="Calibri"/>
                <a:ea typeface="Calibri"/>
                <a:cs typeface="Calibri"/>
                <a:sym typeface="Calibri"/>
              </a:rPr>
              <a:t>For predictive analysis and pattern recognition.</a:t>
            </a:r>
            <a:endParaRPr/>
          </a:p>
          <a:p>
            <a:pPr indent="0" lvl="0" marL="12065" marR="627380" rtl="0" algn="l">
              <a:spcBef>
                <a:spcPts val="100"/>
              </a:spcBef>
              <a:spcAft>
                <a:spcPts val="0"/>
              </a:spcAft>
              <a:buNone/>
            </a:pPr>
            <a:r>
              <a:t/>
            </a:r>
            <a:endParaRPr sz="800">
              <a:solidFill>
                <a:schemeClr val="dk1"/>
              </a:solidFill>
              <a:latin typeface="Calibri"/>
              <a:ea typeface="Calibri"/>
              <a:cs typeface="Calibri"/>
              <a:sym typeface="Calibri"/>
            </a:endParaRPr>
          </a:p>
          <a:p>
            <a:pPr indent="0" lvl="0" marL="12065" marR="627380" rtl="0" algn="l">
              <a:spcBef>
                <a:spcPts val="100"/>
              </a:spcBef>
              <a:spcAft>
                <a:spcPts val="0"/>
              </a:spcAft>
              <a:buNone/>
            </a:pPr>
            <a:r>
              <a:rPr b="1" lang="en-US" sz="1600">
                <a:solidFill>
                  <a:schemeClr val="dk1"/>
                </a:solidFill>
                <a:latin typeface="Calibri"/>
                <a:ea typeface="Calibri"/>
                <a:cs typeface="Calibri"/>
                <a:sym typeface="Calibri"/>
              </a:rPr>
              <a:t>Key Findings: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Rising Global Temperatures: </a:t>
            </a:r>
            <a:r>
              <a:rPr lang="en-US" sz="1400">
                <a:solidFill>
                  <a:schemeClr val="dk1"/>
                </a:solidFill>
                <a:latin typeface="Calibri"/>
                <a:ea typeface="Calibri"/>
                <a:cs typeface="Calibri"/>
                <a:sym typeface="Calibri"/>
              </a:rPr>
              <a:t>Significant increase in average temperatures over the past century.</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Increasing CO2 Emissions: </a:t>
            </a:r>
            <a:r>
              <a:rPr lang="en-US" sz="1400">
                <a:solidFill>
                  <a:schemeClr val="dk1"/>
                </a:solidFill>
                <a:latin typeface="Calibri"/>
                <a:ea typeface="Calibri"/>
                <a:cs typeface="Calibri"/>
                <a:sym typeface="Calibri"/>
              </a:rPr>
              <a:t>Continuous rise in emissions, primarily from industrial and transportation sectors.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Sea Level Rise: </a:t>
            </a:r>
            <a:r>
              <a:rPr lang="en-US" sz="1400">
                <a:solidFill>
                  <a:schemeClr val="dk1"/>
                </a:solidFill>
                <a:latin typeface="Calibri"/>
                <a:ea typeface="Calibri"/>
                <a:cs typeface="Calibri"/>
                <a:sym typeface="Calibri"/>
              </a:rPr>
              <a:t>Steady increase in sea levels, with notable acceleration in recent decades.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More Frequent Extreme Weather Events</a:t>
            </a:r>
            <a:r>
              <a:rPr lang="en-US" sz="1400">
                <a:solidFill>
                  <a:schemeClr val="dk1"/>
                </a:solidFill>
                <a:latin typeface="Calibri"/>
                <a:ea typeface="Calibri"/>
                <a:cs typeface="Calibri"/>
                <a:sym typeface="Calibri"/>
              </a:rPr>
              <a:t>: Higher frequency and intensity of events such as hurricanes, floods, and heatwaves.</a:t>
            </a:r>
            <a:endParaRPr/>
          </a:p>
          <a:p>
            <a:pPr indent="0" lvl="0" marL="12065" marR="627380" rtl="0" algn="l">
              <a:spcBef>
                <a:spcPts val="100"/>
              </a:spcBef>
              <a:spcAft>
                <a:spcPts val="0"/>
              </a:spcAft>
              <a:buNone/>
            </a:pPr>
            <a:r>
              <a:t/>
            </a:r>
            <a:endParaRPr sz="800">
              <a:solidFill>
                <a:schemeClr val="dk1"/>
              </a:solidFill>
              <a:latin typeface="Calibri"/>
              <a:ea typeface="Calibri"/>
              <a:cs typeface="Calibri"/>
              <a:sym typeface="Calibri"/>
            </a:endParaRPr>
          </a:p>
          <a:p>
            <a:pPr indent="0" lvl="0" marL="12065" marR="627380" rtl="0" algn="l">
              <a:spcBef>
                <a:spcPts val="100"/>
              </a:spcBef>
              <a:spcAft>
                <a:spcPts val="0"/>
              </a:spcAft>
              <a:buNone/>
            </a:pPr>
            <a:r>
              <a:rPr b="1" lang="en-US" sz="1600">
                <a:solidFill>
                  <a:schemeClr val="dk1"/>
                </a:solidFill>
                <a:latin typeface="Calibri"/>
                <a:ea typeface="Calibri"/>
                <a:cs typeface="Calibri"/>
                <a:sym typeface="Calibri"/>
              </a:rPr>
              <a:t>Insights Derived:</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Impact on Ecosystems: </a:t>
            </a:r>
            <a:r>
              <a:rPr lang="en-US" sz="1400">
                <a:solidFill>
                  <a:schemeClr val="dk1"/>
                </a:solidFill>
                <a:latin typeface="Calibri"/>
                <a:ea typeface="Calibri"/>
                <a:cs typeface="Calibri"/>
                <a:sym typeface="Calibri"/>
              </a:rPr>
              <a:t>Warming temperatures and rising sea levels are causing habitat loss and threatening biodiversity.</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Economic and Social Implications: </a:t>
            </a:r>
            <a:r>
              <a:rPr lang="en-US" sz="1400">
                <a:solidFill>
                  <a:schemeClr val="dk1"/>
                </a:solidFill>
                <a:latin typeface="Calibri"/>
                <a:ea typeface="Calibri"/>
                <a:cs typeface="Calibri"/>
                <a:sym typeface="Calibri"/>
              </a:rPr>
              <a:t>Increased costs due to extreme weather damage and displacement of vulnerable communities.</a:t>
            </a:r>
            <a:endParaRPr/>
          </a:p>
          <a:p>
            <a:pPr indent="-285750" lvl="0" marL="297815" marR="627380" rtl="0" algn="l">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Policy Recommendations: </a:t>
            </a:r>
            <a:r>
              <a:rPr lang="en-US" sz="1400">
                <a:solidFill>
                  <a:schemeClr val="dk1"/>
                </a:solidFill>
                <a:latin typeface="Calibri"/>
                <a:ea typeface="Calibri"/>
                <a:cs typeface="Calibri"/>
                <a:sym typeface="Calibri"/>
              </a:rPr>
              <a:t>Urgent need for policies focused on reducing emissions, promoting renewable energy, and enhancing disaster preparedness.</a:t>
            </a:r>
            <a:endParaRPr/>
          </a:p>
        </p:txBody>
      </p:sp>
      <p:grpSp>
        <p:nvGrpSpPr>
          <p:cNvPr id="115" name="Google Shape;115;p7"/>
          <p:cNvGrpSpPr/>
          <p:nvPr/>
        </p:nvGrpSpPr>
        <p:grpSpPr>
          <a:xfrm>
            <a:off x="0" y="4976700"/>
            <a:ext cx="9144000" cy="167005"/>
            <a:chOff x="0" y="4976700"/>
            <a:chExt cx="9144000" cy="167005"/>
          </a:xfrm>
        </p:grpSpPr>
        <p:sp>
          <p:nvSpPr>
            <p:cNvPr id="116" name="Google Shape;116;p7"/>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7"/>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8" name="Google Shape;118;p7"/>
          <p:cNvGrpSpPr/>
          <p:nvPr/>
        </p:nvGrpSpPr>
        <p:grpSpPr>
          <a:xfrm>
            <a:off x="6617544" y="172917"/>
            <a:ext cx="1774797" cy="851378"/>
            <a:chOff x="6644323" y="196372"/>
            <a:chExt cx="1774797" cy="851378"/>
          </a:xfrm>
        </p:grpSpPr>
        <p:pic>
          <p:nvPicPr>
            <p:cNvPr id="119" name="Google Shape;119;p7"/>
            <p:cNvPicPr preferRelativeResize="0"/>
            <p:nvPr/>
          </p:nvPicPr>
          <p:blipFill rotWithShape="1">
            <a:blip r:embed="rId3">
              <a:alphaModFix/>
            </a:blip>
            <a:srcRect b="0" l="0" r="0" t="0"/>
            <a:stretch/>
          </p:blipFill>
          <p:spPr>
            <a:xfrm>
              <a:off x="6644323" y="196372"/>
              <a:ext cx="899477" cy="851378"/>
            </a:xfrm>
            <a:prstGeom prst="rect">
              <a:avLst/>
            </a:prstGeom>
            <a:noFill/>
            <a:ln>
              <a:noFill/>
            </a:ln>
          </p:spPr>
        </p:pic>
        <p:pic>
          <p:nvPicPr>
            <p:cNvPr id="120" name="Google Shape;120;p7"/>
            <p:cNvPicPr preferRelativeResize="0"/>
            <p:nvPr/>
          </p:nvPicPr>
          <p:blipFill rotWithShape="1">
            <a:blip r:embed="rId4">
              <a:alphaModFix/>
            </a:blip>
            <a:srcRect b="0" l="17496" r="14995" t="0"/>
            <a:stretch/>
          </p:blipFill>
          <p:spPr>
            <a:xfrm>
              <a:off x="7693693" y="208833"/>
              <a:ext cx="725427" cy="671607"/>
            </a:xfrm>
            <a:prstGeom prst="rect">
              <a:avLst/>
            </a:prstGeom>
            <a:noFill/>
            <a:ln>
              <a:noFill/>
            </a:ln>
          </p:spPr>
        </p:pic>
      </p:grpSp>
      <p:grpSp>
        <p:nvGrpSpPr>
          <p:cNvPr id="121" name="Google Shape;121;p7"/>
          <p:cNvGrpSpPr/>
          <p:nvPr/>
        </p:nvGrpSpPr>
        <p:grpSpPr>
          <a:xfrm>
            <a:off x="6514104" y="1094220"/>
            <a:ext cx="2059392" cy="671607"/>
            <a:chOff x="6553200" y="1123950"/>
            <a:chExt cx="2059392" cy="671607"/>
          </a:xfrm>
        </p:grpSpPr>
        <p:pic>
          <p:nvPicPr>
            <p:cNvPr id="122" name="Google Shape;122;p7"/>
            <p:cNvPicPr preferRelativeResize="0"/>
            <p:nvPr/>
          </p:nvPicPr>
          <p:blipFill rotWithShape="1">
            <a:blip r:embed="rId5">
              <a:alphaModFix/>
            </a:blip>
            <a:srcRect b="10089" l="17856" r="19644" t="8573"/>
            <a:stretch/>
          </p:blipFill>
          <p:spPr>
            <a:xfrm>
              <a:off x="6553200" y="1123950"/>
              <a:ext cx="990839" cy="671607"/>
            </a:xfrm>
            <a:prstGeom prst="rect">
              <a:avLst/>
            </a:prstGeom>
            <a:noFill/>
            <a:ln>
              <a:noFill/>
            </a:ln>
          </p:spPr>
        </p:pic>
        <p:pic>
          <p:nvPicPr>
            <p:cNvPr id="123" name="Google Shape;123;p7"/>
            <p:cNvPicPr preferRelativeResize="0"/>
            <p:nvPr/>
          </p:nvPicPr>
          <p:blipFill rotWithShape="1">
            <a:blip r:embed="rId6">
              <a:alphaModFix/>
            </a:blip>
            <a:srcRect b="0" l="0" r="0" t="0"/>
            <a:stretch/>
          </p:blipFill>
          <p:spPr>
            <a:xfrm>
              <a:off x="7620000" y="1131141"/>
              <a:ext cx="951006" cy="297609"/>
            </a:xfrm>
            <a:prstGeom prst="rect">
              <a:avLst/>
            </a:prstGeom>
            <a:noFill/>
            <a:ln>
              <a:noFill/>
            </a:ln>
          </p:spPr>
        </p:pic>
        <p:pic>
          <p:nvPicPr>
            <p:cNvPr id="124" name="Google Shape;124;p7"/>
            <p:cNvPicPr preferRelativeResize="0"/>
            <p:nvPr/>
          </p:nvPicPr>
          <p:blipFill rotWithShape="1">
            <a:blip r:embed="rId7">
              <a:alphaModFix/>
            </a:blip>
            <a:srcRect b="0" l="0" r="0" t="0"/>
            <a:stretch/>
          </p:blipFill>
          <p:spPr>
            <a:xfrm>
              <a:off x="7618257" y="1504950"/>
              <a:ext cx="994335" cy="21361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1000"/>
                                        <p:tgtEl>
                                          <p:spTgt spid="113"/>
                                        </p:tgtEl>
                                        <p:attrNameLst>
                                          <p:attrName>ppt_w</p:attrName>
                                        </p:attrNameLst>
                                      </p:cBhvr>
                                      <p:tavLst>
                                        <p:tav fmla="" tm="0">
                                          <p:val>
                                            <p:strVal val="0"/>
                                          </p:val>
                                        </p:tav>
                                        <p:tav fmla="" tm="100000">
                                          <p:val>
                                            <p:strVal val="#ppt_w"/>
                                          </p:val>
                                        </p:tav>
                                      </p:tavLst>
                                    </p:anim>
                                    <p:anim calcmode="lin" valueType="num">
                                      <p:cBhvr additive="base">
                                        <p:cTn dur="1000"/>
                                        <p:tgtEl>
                                          <p:spTgt spid="11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1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1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1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1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1000"/>
                                        <p:tgtEl>
                                          <p:spTgt spid="11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0" st="10"/>
                                            </p:txEl>
                                          </p:spTgt>
                                        </p:tgtEl>
                                        <p:attrNameLst>
                                          <p:attrName>style.visibility</p:attrName>
                                        </p:attrNameLst>
                                      </p:cBhvr>
                                      <p:to>
                                        <p:strVal val="visible"/>
                                      </p:to>
                                    </p:set>
                                    <p:animEffect filter="fade" transition="in">
                                      <p:cBhvr>
                                        <p:cTn dur="1000"/>
                                        <p:tgtEl>
                                          <p:spTgt spid="11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1" st="11"/>
                                            </p:txEl>
                                          </p:spTgt>
                                        </p:tgtEl>
                                        <p:attrNameLst>
                                          <p:attrName>style.visibility</p:attrName>
                                        </p:attrNameLst>
                                      </p:cBhvr>
                                      <p:to>
                                        <p:strVal val="visible"/>
                                      </p:to>
                                    </p:set>
                                    <p:animEffect filter="fade" transition="in">
                                      <p:cBhvr>
                                        <p:cTn dur="1000"/>
                                        <p:tgtEl>
                                          <p:spTgt spid="11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2" st="12"/>
                                            </p:txEl>
                                          </p:spTgt>
                                        </p:tgtEl>
                                        <p:attrNameLst>
                                          <p:attrName>style.visibility</p:attrName>
                                        </p:attrNameLst>
                                      </p:cBhvr>
                                      <p:to>
                                        <p:strVal val="visible"/>
                                      </p:to>
                                    </p:set>
                                    <p:animEffect filter="fade" transition="in">
                                      <p:cBhvr>
                                        <p:cTn dur="1000"/>
                                        <p:tgtEl>
                                          <p:spTgt spid="11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3" st="13"/>
                                            </p:txEl>
                                          </p:spTgt>
                                        </p:tgtEl>
                                        <p:attrNameLst>
                                          <p:attrName>style.visibility</p:attrName>
                                        </p:attrNameLst>
                                      </p:cBhvr>
                                      <p:to>
                                        <p:strVal val="visible"/>
                                      </p:to>
                                    </p:set>
                                    <p:animEffect filter="fade" transition="in">
                                      <p:cBhvr>
                                        <p:cTn dur="1000"/>
                                        <p:tgtEl>
                                          <p:spTgt spid="11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4" st="14"/>
                                            </p:txEl>
                                          </p:spTgt>
                                        </p:tgtEl>
                                        <p:attrNameLst>
                                          <p:attrName>style.visibility</p:attrName>
                                        </p:attrNameLst>
                                      </p:cBhvr>
                                      <p:to>
                                        <p:strVal val="visible"/>
                                      </p:to>
                                    </p:set>
                                    <p:animEffect filter="fade" transition="in">
                                      <p:cBhvr>
                                        <p:cTn dur="1000"/>
                                        <p:tgtEl>
                                          <p:spTgt spid="11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5" st="15"/>
                                            </p:txEl>
                                          </p:spTgt>
                                        </p:tgtEl>
                                        <p:attrNameLst>
                                          <p:attrName>style.visibility</p:attrName>
                                        </p:attrNameLst>
                                      </p:cBhvr>
                                      <p:to>
                                        <p:strVal val="visible"/>
                                      </p:to>
                                    </p:set>
                                    <p:animEffect filter="fade" transition="in">
                                      <p:cBhvr>
                                        <p:cTn dur="1000"/>
                                        <p:tgtEl>
                                          <p:spTgt spid="114">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1000"/>
                                        <p:tgtEl>
                                          <p:spTgt spid="118"/>
                                        </p:tgtEl>
                                        <p:attrNameLst>
                                          <p:attrName>ppt_w</p:attrName>
                                        </p:attrNameLst>
                                      </p:cBhvr>
                                      <p:tavLst>
                                        <p:tav fmla="" tm="0">
                                          <p:val>
                                            <p:strVal val="0"/>
                                          </p:val>
                                        </p:tav>
                                        <p:tav fmla="" tm="100000">
                                          <p:val>
                                            <p:strVal val="#ppt_w"/>
                                          </p:val>
                                        </p:tav>
                                      </p:tavLst>
                                    </p:anim>
                                    <p:anim calcmode="lin" valueType="num">
                                      <p:cBhvr additive="base">
                                        <p:cTn dur="1000"/>
                                        <p:tgtEl>
                                          <p:spTgt spid="11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1000"/>
                                        <p:tgtEl>
                                          <p:spTgt spid="121"/>
                                        </p:tgtEl>
                                        <p:attrNameLst>
                                          <p:attrName>ppt_w</p:attrName>
                                        </p:attrNameLst>
                                      </p:cBhvr>
                                      <p:tavLst>
                                        <p:tav fmla="" tm="0">
                                          <p:val>
                                            <p:strVal val="0"/>
                                          </p:val>
                                        </p:tav>
                                        <p:tav fmla="" tm="100000">
                                          <p:val>
                                            <p:strVal val="#ppt_w"/>
                                          </p:val>
                                        </p:tav>
                                      </p:tavLst>
                                    </p:anim>
                                    <p:anim calcmode="lin" valueType="num">
                                      <p:cBhvr additive="base">
                                        <p:cTn dur="1000"/>
                                        <p:tgtEl>
                                          <p:spTgt spid="12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p8"/>
          <p:cNvSpPr txBox="1"/>
          <p:nvPr>
            <p:ph type="title"/>
          </p:nvPr>
        </p:nvSpPr>
        <p:spPr>
          <a:xfrm>
            <a:off x="272143" y="138430"/>
            <a:ext cx="265112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Hypothesis Development</a:t>
            </a:r>
            <a:endParaRPr/>
          </a:p>
        </p:txBody>
      </p:sp>
      <p:sp>
        <p:nvSpPr>
          <p:cNvPr id="130" name="Google Shape;130;p8"/>
          <p:cNvSpPr txBox="1"/>
          <p:nvPr/>
        </p:nvSpPr>
        <p:spPr>
          <a:xfrm>
            <a:off x="304800" y="525235"/>
            <a:ext cx="9601200" cy="4688463"/>
          </a:xfrm>
          <a:prstGeom prst="rect">
            <a:avLst/>
          </a:prstGeom>
          <a:noFill/>
          <a:ln>
            <a:noFill/>
          </a:ln>
        </p:spPr>
        <p:txBody>
          <a:bodyPr anchorCtr="0" anchor="t" bIns="0" lIns="0" spcFirstLastPara="1" rIns="0" wrap="square" tIns="12700">
            <a:spAutoFit/>
          </a:bodyPr>
          <a:lstStyle/>
          <a:p>
            <a:pPr indent="0" lvl="0" marL="0" marR="627380" rtl="0" algn="l">
              <a:lnSpc>
                <a:spcPct val="100000"/>
              </a:lnSpc>
              <a:spcBef>
                <a:spcPts val="0"/>
              </a:spcBef>
              <a:spcAft>
                <a:spcPts val="0"/>
              </a:spcAft>
              <a:buNone/>
            </a:pPr>
            <a:r>
              <a:rPr b="1" lang="en-US" sz="1600">
                <a:solidFill>
                  <a:schemeClr val="dk1"/>
                </a:solidFill>
                <a:latin typeface="Calibri"/>
                <a:ea typeface="Calibri"/>
                <a:cs typeface="Calibri"/>
                <a:sym typeface="Calibri"/>
              </a:rPr>
              <a:t>Formulated Hypotheses:</a:t>
            </a:r>
            <a:endParaRPr/>
          </a:p>
          <a:p>
            <a:pPr indent="-285750" lvl="0" marL="297815" marR="627380" rtl="0" algn="l">
              <a:lnSpc>
                <a:spcPct val="100000"/>
              </a:lnSpc>
              <a:spcBef>
                <a:spcPts val="10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Rising CO2 emissions are significantly correlated with increasing global temperatures.</a:t>
            </a:r>
            <a:endParaRPr/>
          </a:p>
          <a:p>
            <a:pPr indent="-285750" lvl="0" marL="297815" marR="627380" rtl="0" algn="l">
              <a:lnSpc>
                <a:spcPct val="100000"/>
              </a:lnSpc>
              <a:spcBef>
                <a:spcPts val="10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The frequency of extreme weather events is increasing due to climate change.</a:t>
            </a:r>
            <a:endParaRPr/>
          </a:p>
          <a:p>
            <a:pPr indent="-285750" lvl="0" marL="297815" marR="627380" rtl="0" algn="l">
              <a:lnSpc>
                <a:spcPct val="100000"/>
              </a:lnSpc>
              <a:spcBef>
                <a:spcPts val="10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Coastal regions are experiencing accelerated sea level rise compared to global averages.</a:t>
            </a:r>
            <a:endParaRPr/>
          </a:p>
          <a:p>
            <a:pPr indent="0" lvl="0" marL="12065" marR="627380" rtl="0" algn="l">
              <a:lnSpc>
                <a:spcPct val="100000"/>
              </a:lnSpc>
              <a:spcBef>
                <a:spcPts val="100"/>
              </a:spcBef>
              <a:spcAft>
                <a:spcPts val="0"/>
              </a:spcAft>
              <a:buNone/>
            </a:pPr>
            <a:r>
              <a:t/>
            </a:r>
            <a:endParaRPr sz="800">
              <a:solidFill>
                <a:schemeClr val="dk1"/>
              </a:solidFill>
              <a:latin typeface="Calibri"/>
              <a:ea typeface="Calibri"/>
              <a:cs typeface="Calibri"/>
              <a:sym typeface="Calibri"/>
            </a:endParaRPr>
          </a:p>
          <a:p>
            <a:pPr indent="0" lvl="0" marL="0" marR="627380" rtl="0" algn="l">
              <a:lnSpc>
                <a:spcPct val="100000"/>
              </a:lnSpc>
              <a:spcBef>
                <a:spcPts val="100"/>
              </a:spcBef>
              <a:spcAft>
                <a:spcPts val="0"/>
              </a:spcAft>
              <a:buNone/>
            </a:pPr>
            <a:r>
              <a:rPr b="1" lang="en-US" sz="1600">
                <a:solidFill>
                  <a:schemeClr val="dk1"/>
                </a:solidFill>
                <a:latin typeface="Calibri"/>
                <a:ea typeface="Calibri"/>
                <a:cs typeface="Calibri"/>
                <a:sym typeface="Calibri"/>
              </a:rPr>
              <a:t>Rationale:</a:t>
            </a:r>
            <a:endParaRPr/>
          </a:p>
          <a:p>
            <a:pPr indent="-285750" lvl="0" marL="285750" marR="6273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Hypothesis 1: </a:t>
            </a:r>
            <a:r>
              <a:rPr lang="en-US" sz="1400">
                <a:solidFill>
                  <a:schemeClr val="dk1"/>
                </a:solidFill>
                <a:latin typeface="Calibri"/>
                <a:ea typeface="Calibri"/>
                <a:cs typeface="Calibri"/>
                <a:sym typeface="Calibri"/>
              </a:rPr>
              <a:t>CO2 emissions from human activities are a primary driver of global warming.</a:t>
            </a:r>
            <a:endParaRPr/>
          </a:p>
          <a:p>
            <a:pPr indent="-285750" lvl="0" marL="285750" marR="6273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Hypothesis 2: </a:t>
            </a:r>
            <a:r>
              <a:rPr lang="en-US" sz="1400">
                <a:solidFill>
                  <a:schemeClr val="dk1"/>
                </a:solidFill>
                <a:latin typeface="Calibri"/>
                <a:ea typeface="Calibri"/>
                <a:cs typeface="Calibri"/>
                <a:sym typeface="Calibri"/>
              </a:rPr>
              <a:t>Data shows a growing number of extreme weather events over recent decades.</a:t>
            </a:r>
            <a:endParaRPr/>
          </a:p>
          <a:p>
            <a:pPr indent="-285750" lvl="0" marL="297815" marR="6273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Hypothesis 3: </a:t>
            </a:r>
            <a:r>
              <a:rPr lang="en-US" sz="1400">
                <a:solidFill>
                  <a:schemeClr val="dk1"/>
                </a:solidFill>
                <a:latin typeface="Calibri"/>
                <a:ea typeface="Calibri"/>
                <a:cs typeface="Calibri"/>
                <a:sym typeface="Calibri"/>
              </a:rPr>
              <a:t>Coastal regions, due to their proximity to oceans and lower elevation, are more impacted by sea level rise.</a:t>
            </a:r>
            <a:endParaRPr/>
          </a:p>
          <a:p>
            <a:pPr indent="0" lvl="0" marL="12065" marR="627380" rtl="0" algn="l">
              <a:lnSpc>
                <a:spcPct val="100000"/>
              </a:lnSpc>
              <a:spcBef>
                <a:spcPts val="100"/>
              </a:spcBef>
              <a:spcAft>
                <a:spcPts val="0"/>
              </a:spcAft>
              <a:buNone/>
            </a:pPr>
            <a:r>
              <a:t/>
            </a:r>
            <a:endParaRPr sz="800">
              <a:solidFill>
                <a:schemeClr val="dk1"/>
              </a:solidFill>
              <a:latin typeface="Calibri"/>
              <a:ea typeface="Calibri"/>
              <a:cs typeface="Calibri"/>
              <a:sym typeface="Calibri"/>
            </a:endParaRPr>
          </a:p>
          <a:p>
            <a:pPr indent="0" lvl="0" marL="0" marR="627380" rtl="0" algn="l">
              <a:lnSpc>
                <a:spcPct val="100000"/>
              </a:lnSpc>
              <a:spcBef>
                <a:spcPts val="100"/>
              </a:spcBef>
              <a:spcAft>
                <a:spcPts val="0"/>
              </a:spcAft>
              <a:buNone/>
            </a:pPr>
            <a:r>
              <a:rPr b="1" lang="en-US" sz="1600">
                <a:solidFill>
                  <a:schemeClr val="dk1"/>
                </a:solidFill>
                <a:latin typeface="Calibri"/>
                <a:ea typeface="Calibri"/>
                <a:cs typeface="Calibri"/>
                <a:sym typeface="Calibri"/>
              </a:rPr>
              <a:t>Testing Method:</a:t>
            </a:r>
            <a:endParaRPr/>
          </a:p>
          <a:p>
            <a:pPr indent="-285750" lvl="0" marL="285750" marR="6273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Hypothesis 1:                                                                                       </a:t>
            </a:r>
            <a:endParaRPr/>
          </a:p>
          <a:p>
            <a:pPr indent="-400050" lvl="0" marL="412115" marR="627380" rtl="0" algn="l">
              <a:lnSpc>
                <a:spcPct val="100000"/>
              </a:lnSpc>
              <a:spcBef>
                <a:spcPts val="100"/>
              </a:spcBef>
              <a:spcAft>
                <a:spcPts val="0"/>
              </a:spcAft>
              <a:buClr>
                <a:schemeClr val="dk1"/>
              </a:buClr>
              <a:buSzPts val="1400"/>
              <a:buFont typeface="Calibri"/>
              <a:buAutoNum type="romanLcPeriod"/>
            </a:pPr>
            <a:r>
              <a:rPr lang="en-US" sz="1400">
                <a:solidFill>
                  <a:schemeClr val="dk1"/>
                </a:solidFill>
                <a:latin typeface="Calibri"/>
                <a:ea typeface="Calibri"/>
                <a:cs typeface="Calibri"/>
                <a:sym typeface="Calibri"/>
              </a:rPr>
              <a:t>Data: Global temperatures and CO2 emissions.</a:t>
            </a:r>
            <a:endParaRPr/>
          </a:p>
          <a:p>
            <a:pPr indent="-400050" lvl="0" marL="412115" marR="627380" rtl="0" algn="l">
              <a:lnSpc>
                <a:spcPct val="100000"/>
              </a:lnSpc>
              <a:spcBef>
                <a:spcPts val="100"/>
              </a:spcBef>
              <a:spcAft>
                <a:spcPts val="0"/>
              </a:spcAft>
              <a:buClr>
                <a:schemeClr val="dk1"/>
              </a:buClr>
              <a:buSzPts val="1400"/>
              <a:buFont typeface="Calibri"/>
              <a:buAutoNum type="romanLcPeriod"/>
            </a:pPr>
            <a:r>
              <a:rPr lang="en-US" sz="1400">
                <a:solidFill>
                  <a:schemeClr val="dk1"/>
                </a:solidFill>
                <a:latin typeface="Calibri"/>
                <a:ea typeface="Calibri"/>
                <a:cs typeface="Calibri"/>
                <a:sym typeface="Calibri"/>
              </a:rPr>
              <a:t>Analysis: Correlation analysis.</a:t>
            </a:r>
            <a:endParaRPr/>
          </a:p>
          <a:p>
            <a:pPr indent="-400050" lvl="0" marL="412115" marR="627380" rtl="0" algn="l">
              <a:lnSpc>
                <a:spcPct val="100000"/>
              </a:lnSpc>
              <a:spcBef>
                <a:spcPts val="100"/>
              </a:spcBef>
              <a:spcAft>
                <a:spcPts val="0"/>
              </a:spcAft>
              <a:buClr>
                <a:schemeClr val="dk1"/>
              </a:buClr>
              <a:buSzPts val="1400"/>
              <a:buFont typeface="Calibri"/>
              <a:buAutoNum type="romanLcPeriod"/>
            </a:pPr>
            <a:r>
              <a:rPr lang="en-US" sz="1400">
                <a:solidFill>
                  <a:schemeClr val="dk1"/>
                </a:solidFill>
                <a:latin typeface="Calibri"/>
                <a:ea typeface="Calibri"/>
                <a:cs typeface="Calibri"/>
                <a:sym typeface="Calibri"/>
              </a:rPr>
              <a:t>Visualization: Scatter plots and trend lines.</a:t>
            </a:r>
            <a:endParaRPr/>
          </a:p>
          <a:p>
            <a:pPr indent="0" lvl="0" marL="12065" marR="627380" rtl="0" algn="l">
              <a:lnSpc>
                <a:spcPct val="100000"/>
              </a:lnSpc>
              <a:spcBef>
                <a:spcPts val="100"/>
              </a:spcBef>
              <a:spcAft>
                <a:spcPts val="0"/>
              </a:spcAft>
              <a:buNone/>
            </a:pPr>
            <a:r>
              <a:t/>
            </a:r>
            <a:endParaRPr sz="800">
              <a:solidFill>
                <a:schemeClr val="dk1"/>
              </a:solidFill>
              <a:latin typeface="Calibri"/>
              <a:ea typeface="Calibri"/>
              <a:cs typeface="Calibri"/>
              <a:sym typeface="Calibri"/>
            </a:endParaRPr>
          </a:p>
          <a:p>
            <a:pPr indent="-285750" lvl="0" marL="297815" marR="627380" rtl="0" algn="l">
              <a:lnSpc>
                <a:spcPct val="100000"/>
              </a:lnSpc>
              <a:spcBef>
                <a:spcPts val="10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Hypothesis 3: </a:t>
            </a:r>
            <a:r>
              <a:rPr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Data: Coastal and global sea level measurements.</a:t>
            </a:r>
            <a:endParaRPr/>
          </a:p>
          <a:p>
            <a:pPr indent="0" lvl="0" marL="12065" marR="627380" rtl="0" algn="l">
              <a:lnSpc>
                <a:spcPct val="100000"/>
              </a:lnSpc>
              <a:spcBef>
                <a:spcPts val="100"/>
              </a:spcBef>
              <a:spcAft>
                <a:spcPts val="0"/>
              </a:spcAft>
              <a:buNone/>
            </a:pPr>
            <a:r>
              <a:rPr lang="en-US" sz="1400">
                <a:solidFill>
                  <a:schemeClr val="dk1"/>
                </a:solidFill>
                <a:latin typeface="Calibri"/>
                <a:ea typeface="Calibri"/>
                <a:cs typeface="Calibri"/>
                <a:sym typeface="Calibri"/>
              </a:rPr>
              <a:t>                                 ii. Analysis: Comparative statistical tests.</a:t>
            </a:r>
            <a:endParaRPr/>
          </a:p>
          <a:p>
            <a:pPr indent="0" lvl="0" marL="12065" marR="627380" rtl="0" algn="l">
              <a:lnSpc>
                <a:spcPct val="100000"/>
              </a:lnSpc>
              <a:spcBef>
                <a:spcPts val="100"/>
              </a:spcBef>
              <a:spcAft>
                <a:spcPts val="0"/>
              </a:spcAft>
              <a:buNone/>
            </a:pPr>
            <a:r>
              <a:rPr lang="en-US" sz="1400">
                <a:solidFill>
                  <a:schemeClr val="dk1"/>
                </a:solidFill>
                <a:latin typeface="Calibri"/>
                <a:ea typeface="Calibri"/>
                <a:cs typeface="Calibri"/>
                <a:sym typeface="Calibri"/>
              </a:rPr>
              <a:t>                                 iii. Visualization: Side-by-side bar charts and line graphs.</a:t>
            </a:r>
            <a:endParaRPr/>
          </a:p>
          <a:p>
            <a:pPr indent="-196850" lvl="0" marL="285750" marR="627380" rtl="0" algn="l">
              <a:lnSpc>
                <a:spcPct val="100000"/>
              </a:lnSpc>
              <a:spcBef>
                <a:spcPts val="100"/>
              </a:spcBef>
              <a:spcAft>
                <a:spcPts val="0"/>
              </a:spcAft>
              <a:buClr>
                <a:schemeClr val="dk1"/>
              </a:buClr>
              <a:buSzPts val="1400"/>
              <a:buFont typeface="Arial"/>
              <a:buNone/>
            </a:pPr>
            <a:r>
              <a:t/>
            </a:r>
            <a:endParaRPr b="1" sz="1400">
              <a:solidFill>
                <a:schemeClr val="dk1"/>
              </a:solidFill>
              <a:latin typeface="Calibri"/>
              <a:ea typeface="Calibri"/>
              <a:cs typeface="Calibri"/>
              <a:sym typeface="Calibri"/>
            </a:endParaRPr>
          </a:p>
        </p:txBody>
      </p:sp>
      <p:grpSp>
        <p:nvGrpSpPr>
          <p:cNvPr id="131" name="Google Shape;131;p8"/>
          <p:cNvGrpSpPr/>
          <p:nvPr/>
        </p:nvGrpSpPr>
        <p:grpSpPr>
          <a:xfrm>
            <a:off x="0" y="4976700"/>
            <a:ext cx="9144000" cy="167005"/>
            <a:chOff x="0" y="4976700"/>
            <a:chExt cx="9144000" cy="167005"/>
          </a:xfrm>
        </p:grpSpPr>
        <p:sp>
          <p:nvSpPr>
            <p:cNvPr id="132" name="Google Shape;132;p8"/>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8"/>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 name="Google Shape;134;p8"/>
          <p:cNvSpPr txBox="1"/>
          <p:nvPr/>
        </p:nvSpPr>
        <p:spPr>
          <a:xfrm>
            <a:off x="4549304" y="3105150"/>
            <a:ext cx="4343400" cy="992579"/>
          </a:xfrm>
          <a:prstGeom prst="rect">
            <a:avLst/>
          </a:prstGeom>
          <a:noFill/>
          <a:ln>
            <a:noFill/>
          </a:ln>
        </p:spPr>
        <p:txBody>
          <a:bodyPr anchorCtr="0" anchor="t" bIns="45700" lIns="91425" spcFirstLastPara="1" rIns="91425" wrap="square" tIns="45700">
            <a:spAutoFit/>
          </a:bodyPr>
          <a:lstStyle/>
          <a:p>
            <a:pPr indent="-285750" lvl="0" marL="285750" marR="62738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Hypothesis 2:</a:t>
            </a:r>
            <a:endParaRPr/>
          </a:p>
          <a:p>
            <a:pPr indent="-400050" lvl="0" marL="412115" marR="627380" rtl="0" algn="l">
              <a:spcBef>
                <a:spcPts val="100"/>
              </a:spcBef>
              <a:spcAft>
                <a:spcPts val="0"/>
              </a:spcAft>
              <a:buClr>
                <a:schemeClr val="dk1"/>
              </a:buClr>
              <a:buSzPts val="1400"/>
              <a:buFont typeface="Calibri"/>
              <a:buAutoNum type="romanLcPeriod"/>
            </a:pPr>
            <a:r>
              <a:rPr lang="en-US" sz="1400">
                <a:solidFill>
                  <a:schemeClr val="dk1"/>
                </a:solidFill>
                <a:latin typeface="Calibri"/>
                <a:ea typeface="Calibri"/>
                <a:cs typeface="Calibri"/>
                <a:sym typeface="Calibri"/>
              </a:rPr>
              <a:t>Data: Records of extreme weather events.</a:t>
            </a:r>
            <a:endParaRPr/>
          </a:p>
          <a:p>
            <a:pPr indent="-400050" lvl="0" marL="412115" marR="627380" rtl="0" algn="l">
              <a:spcBef>
                <a:spcPts val="100"/>
              </a:spcBef>
              <a:spcAft>
                <a:spcPts val="0"/>
              </a:spcAft>
              <a:buClr>
                <a:schemeClr val="dk1"/>
              </a:buClr>
              <a:buSzPts val="1400"/>
              <a:buFont typeface="Calibri"/>
              <a:buAutoNum type="romanLcPeriod"/>
            </a:pPr>
            <a:r>
              <a:rPr lang="en-US" sz="1400">
                <a:solidFill>
                  <a:schemeClr val="dk1"/>
                </a:solidFill>
                <a:latin typeface="Calibri"/>
                <a:ea typeface="Calibri"/>
                <a:cs typeface="Calibri"/>
                <a:sym typeface="Calibri"/>
              </a:rPr>
              <a:t>Analysis: A time-series analysis.</a:t>
            </a:r>
            <a:endParaRPr/>
          </a:p>
          <a:p>
            <a:pPr indent="-400050" lvl="0" marL="412115" marR="627380" rtl="0" algn="l">
              <a:spcBef>
                <a:spcPts val="100"/>
              </a:spcBef>
              <a:spcAft>
                <a:spcPts val="0"/>
              </a:spcAft>
              <a:buClr>
                <a:schemeClr val="dk1"/>
              </a:buClr>
              <a:buSzPts val="1400"/>
              <a:buFont typeface="Calibri"/>
              <a:buAutoNum type="romanLcPeriod"/>
            </a:pPr>
            <a:r>
              <a:rPr lang="en-US" sz="1400">
                <a:solidFill>
                  <a:schemeClr val="dk1"/>
                </a:solidFill>
                <a:latin typeface="Calibri"/>
                <a:ea typeface="Calibri"/>
                <a:cs typeface="Calibri"/>
                <a:sym typeface="Calibri"/>
              </a:rPr>
              <a:t>Visualization: Bar charts and line graphs.</a:t>
            </a:r>
            <a:endParaRPr sz="1400">
              <a:solidFill>
                <a:schemeClr val="dk1"/>
              </a:solidFill>
              <a:latin typeface="Calibri"/>
              <a:ea typeface="Calibri"/>
              <a:cs typeface="Calibri"/>
              <a:sym typeface="Calibri"/>
            </a:endParaRPr>
          </a:p>
        </p:txBody>
      </p:sp>
      <p:pic>
        <p:nvPicPr>
          <p:cNvPr id="135" name="Google Shape;135;p8"/>
          <p:cNvPicPr preferRelativeResize="0"/>
          <p:nvPr/>
        </p:nvPicPr>
        <p:blipFill rotWithShape="1">
          <a:blip r:embed="rId3">
            <a:alphaModFix/>
          </a:blip>
          <a:srcRect b="0" l="0" r="0" t="0"/>
          <a:stretch/>
        </p:blipFill>
        <p:spPr>
          <a:xfrm>
            <a:off x="7010400" y="412518"/>
            <a:ext cx="2035951" cy="12665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500"/>
                                        <p:tgtEl>
                                          <p:spTgt spid="129"/>
                                        </p:tgtEl>
                                        <p:attrNameLst>
                                          <p:attrName>ppt_w</p:attrName>
                                        </p:attrNameLst>
                                      </p:cBhvr>
                                      <p:tavLst>
                                        <p:tav fmla="" tm="0">
                                          <p:val>
                                            <p:strVal val="0"/>
                                          </p:val>
                                        </p:tav>
                                        <p:tav fmla="" tm="100000">
                                          <p:val>
                                            <p:strVal val="#ppt_w"/>
                                          </p:val>
                                        </p:tav>
                                      </p:tavLst>
                                    </p:anim>
                                    <p:anim calcmode="lin" valueType="num">
                                      <p:cBhvr additive="base">
                                        <p:cTn dur="500"/>
                                        <p:tgtEl>
                                          <p:spTgt spid="1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1000"/>
                                        <p:tgtEl>
                                          <p:spTgt spid="1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1000"/>
                                        <p:tgtEl>
                                          <p:spTgt spid="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animEffect filter="fade" transition="in">
                                      <p:cBhvr>
                                        <p:cTn dur="1000"/>
                                        <p:tgtEl>
                                          <p:spTgt spid="1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animEffect filter="fade" transition="in">
                                      <p:cBhvr>
                                        <p:cTn dur="1000"/>
                                        <p:tgtEl>
                                          <p:spTgt spid="1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animEffect filter="fade" transition="in">
                                      <p:cBhvr>
                                        <p:cTn dur="1000"/>
                                        <p:tgtEl>
                                          <p:spTgt spid="1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animEffect filter="fade" transition="in">
                                      <p:cBhvr>
                                        <p:cTn dur="1000"/>
                                        <p:tgtEl>
                                          <p:spTgt spid="1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animEffect filter="fade" transition="in">
                                      <p:cBhvr>
                                        <p:cTn dur="1000"/>
                                        <p:tgtEl>
                                          <p:spTgt spid="1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animEffect filter="fade" transition="in">
                                      <p:cBhvr>
                                        <p:cTn dur="1000"/>
                                        <p:tgtEl>
                                          <p:spTgt spid="1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animEffect filter="fade" transition="in">
                                      <p:cBhvr>
                                        <p:cTn dur="1000"/>
                                        <p:tgtEl>
                                          <p:spTgt spid="1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9" st="9"/>
                                            </p:txEl>
                                          </p:spTgt>
                                        </p:tgtEl>
                                        <p:attrNameLst>
                                          <p:attrName>style.visibility</p:attrName>
                                        </p:attrNameLst>
                                      </p:cBhvr>
                                      <p:to>
                                        <p:strVal val="visible"/>
                                      </p:to>
                                    </p:set>
                                    <p:animEffect filter="fade" transition="in">
                                      <p:cBhvr>
                                        <p:cTn dur="1000"/>
                                        <p:tgtEl>
                                          <p:spTgt spid="1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0" st="10"/>
                                            </p:txEl>
                                          </p:spTgt>
                                        </p:tgtEl>
                                        <p:attrNameLst>
                                          <p:attrName>style.visibility</p:attrName>
                                        </p:attrNameLst>
                                      </p:cBhvr>
                                      <p:to>
                                        <p:strVal val="visible"/>
                                      </p:to>
                                    </p:set>
                                    <p:animEffect filter="fade" transition="in">
                                      <p:cBhvr>
                                        <p:cTn dur="1000"/>
                                        <p:tgtEl>
                                          <p:spTgt spid="13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1" st="11"/>
                                            </p:txEl>
                                          </p:spTgt>
                                        </p:tgtEl>
                                        <p:attrNameLst>
                                          <p:attrName>style.visibility</p:attrName>
                                        </p:attrNameLst>
                                      </p:cBhvr>
                                      <p:to>
                                        <p:strVal val="visible"/>
                                      </p:to>
                                    </p:set>
                                    <p:animEffect filter="fade" transition="in">
                                      <p:cBhvr>
                                        <p:cTn dur="1000"/>
                                        <p:tgtEl>
                                          <p:spTgt spid="13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2" st="12"/>
                                            </p:txEl>
                                          </p:spTgt>
                                        </p:tgtEl>
                                        <p:attrNameLst>
                                          <p:attrName>style.visibility</p:attrName>
                                        </p:attrNameLst>
                                      </p:cBhvr>
                                      <p:to>
                                        <p:strVal val="visible"/>
                                      </p:to>
                                    </p:set>
                                    <p:animEffect filter="fade" transition="in">
                                      <p:cBhvr>
                                        <p:cTn dur="1000"/>
                                        <p:tgtEl>
                                          <p:spTgt spid="13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3" st="13"/>
                                            </p:txEl>
                                          </p:spTgt>
                                        </p:tgtEl>
                                        <p:attrNameLst>
                                          <p:attrName>style.visibility</p:attrName>
                                        </p:attrNameLst>
                                      </p:cBhvr>
                                      <p:to>
                                        <p:strVal val="visible"/>
                                      </p:to>
                                    </p:set>
                                    <p:animEffect filter="fade" transition="in">
                                      <p:cBhvr>
                                        <p:cTn dur="1000"/>
                                        <p:tgtEl>
                                          <p:spTgt spid="13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4" st="14"/>
                                            </p:txEl>
                                          </p:spTgt>
                                        </p:tgtEl>
                                        <p:attrNameLst>
                                          <p:attrName>style.visibility</p:attrName>
                                        </p:attrNameLst>
                                      </p:cBhvr>
                                      <p:to>
                                        <p:strVal val="visible"/>
                                      </p:to>
                                    </p:set>
                                    <p:animEffect filter="fade" transition="in">
                                      <p:cBhvr>
                                        <p:cTn dur="1000"/>
                                        <p:tgtEl>
                                          <p:spTgt spid="130">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5" st="15"/>
                                            </p:txEl>
                                          </p:spTgt>
                                        </p:tgtEl>
                                        <p:attrNameLst>
                                          <p:attrName>style.visibility</p:attrName>
                                        </p:attrNameLst>
                                      </p:cBhvr>
                                      <p:to>
                                        <p:strVal val="visible"/>
                                      </p:to>
                                    </p:set>
                                    <p:animEffect filter="fade" transition="in">
                                      <p:cBhvr>
                                        <p:cTn dur="1000"/>
                                        <p:tgtEl>
                                          <p:spTgt spid="130">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6" st="16"/>
                                            </p:txEl>
                                          </p:spTgt>
                                        </p:tgtEl>
                                        <p:attrNameLst>
                                          <p:attrName>style.visibility</p:attrName>
                                        </p:attrNameLst>
                                      </p:cBhvr>
                                      <p:to>
                                        <p:strVal val="visible"/>
                                      </p:to>
                                    </p:set>
                                    <p:animEffect filter="fade" transition="in">
                                      <p:cBhvr>
                                        <p:cTn dur="1000"/>
                                        <p:tgtEl>
                                          <p:spTgt spid="130">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7" st="17"/>
                                            </p:txEl>
                                          </p:spTgt>
                                        </p:tgtEl>
                                        <p:attrNameLst>
                                          <p:attrName>style.visibility</p:attrName>
                                        </p:attrNameLst>
                                      </p:cBhvr>
                                      <p:to>
                                        <p:strVal val="visible"/>
                                      </p:to>
                                    </p:set>
                                    <p:animEffect filter="fade" transition="in">
                                      <p:cBhvr>
                                        <p:cTn dur="1000"/>
                                        <p:tgtEl>
                                          <p:spTgt spid="130">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8" st="18"/>
                                            </p:txEl>
                                          </p:spTgt>
                                        </p:tgtEl>
                                        <p:attrNameLst>
                                          <p:attrName>style.visibility</p:attrName>
                                        </p:attrNameLst>
                                      </p:cBhvr>
                                      <p:to>
                                        <p:strVal val="visible"/>
                                      </p:to>
                                    </p:set>
                                    <p:animEffect filter="fade" transition="in">
                                      <p:cBhvr>
                                        <p:cTn dur="1000"/>
                                        <p:tgtEl>
                                          <p:spTgt spid="130">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9" st="19"/>
                                            </p:txEl>
                                          </p:spTgt>
                                        </p:tgtEl>
                                        <p:attrNameLst>
                                          <p:attrName>style.visibility</p:attrName>
                                        </p:attrNameLst>
                                      </p:cBhvr>
                                      <p:to>
                                        <p:strVal val="visible"/>
                                      </p:to>
                                    </p:set>
                                    <p:animEffect filter="fade" transition="in">
                                      <p:cBhvr>
                                        <p:cTn dur="1000"/>
                                        <p:tgtEl>
                                          <p:spTgt spid="130">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000"/>
                                        <p:tgtEl>
                                          <p:spTgt spid="135"/>
                                        </p:tgtEl>
                                        <p:attrNameLst>
                                          <p:attrName>ppt_w</p:attrName>
                                        </p:attrNameLst>
                                      </p:cBhvr>
                                      <p:tavLst>
                                        <p:tav fmla="" tm="0">
                                          <p:val>
                                            <p:strVal val="0"/>
                                          </p:val>
                                        </p:tav>
                                        <p:tav fmla="" tm="100000">
                                          <p:val>
                                            <p:strVal val="#ppt_w"/>
                                          </p:val>
                                        </p:tav>
                                      </p:tavLst>
                                    </p:anim>
                                    <p:anim calcmode="lin" valueType="num">
                                      <p:cBhvr additive="base">
                                        <p:cTn dur="1000"/>
                                        <p:tgtEl>
                                          <p:spTgt spid="1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9" name="Shape 139"/>
        <p:cNvGrpSpPr/>
        <p:nvPr/>
      </p:nvGrpSpPr>
      <p:grpSpPr>
        <a:xfrm>
          <a:off x="0" y="0"/>
          <a:ext cx="0" cy="0"/>
          <a:chOff x="0" y="0"/>
          <a:chExt cx="0" cy="0"/>
        </a:xfrm>
      </p:grpSpPr>
      <p:sp>
        <p:nvSpPr>
          <p:cNvPr id="140" name="Google Shape;140;p9"/>
          <p:cNvSpPr txBox="1"/>
          <p:nvPr/>
        </p:nvSpPr>
        <p:spPr>
          <a:xfrm>
            <a:off x="228600" y="114258"/>
            <a:ext cx="166052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Solution Design</a:t>
            </a:r>
            <a:endParaRPr sz="1800">
              <a:solidFill>
                <a:schemeClr val="dk1"/>
              </a:solidFill>
              <a:latin typeface="Verdana"/>
              <a:ea typeface="Verdana"/>
              <a:cs typeface="Verdana"/>
              <a:sym typeface="Verdana"/>
            </a:endParaRPr>
          </a:p>
        </p:txBody>
      </p:sp>
      <p:sp>
        <p:nvSpPr>
          <p:cNvPr id="141" name="Google Shape;141;p9"/>
          <p:cNvSpPr txBox="1"/>
          <p:nvPr/>
        </p:nvSpPr>
        <p:spPr>
          <a:xfrm>
            <a:off x="342899" y="547370"/>
            <a:ext cx="8458200" cy="4596130"/>
          </a:xfrm>
          <a:prstGeom prst="rect">
            <a:avLst/>
          </a:prstGeom>
          <a:noFill/>
          <a:ln>
            <a:noFill/>
          </a:ln>
        </p:spPr>
        <p:txBody>
          <a:bodyPr anchorCtr="0" anchor="t" bIns="0" lIns="0" spcFirstLastPara="1" rIns="0" wrap="square" tIns="12700">
            <a:spAutoFit/>
          </a:bodyPr>
          <a:lstStyle/>
          <a:p>
            <a:pPr indent="0" lvl="0" marL="12065" marR="627380" rtl="0" algn="l">
              <a:spcBef>
                <a:spcPts val="0"/>
              </a:spcBef>
              <a:spcAft>
                <a:spcPts val="0"/>
              </a:spcAft>
              <a:buNone/>
            </a:pPr>
            <a:r>
              <a:rPr b="1" lang="en-US" sz="1600">
                <a:solidFill>
                  <a:schemeClr val="dk1"/>
                </a:solidFill>
                <a:latin typeface="Calibri"/>
                <a:ea typeface="Calibri"/>
                <a:cs typeface="Calibri"/>
                <a:sym typeface="Calibri"/>
              </a:rPr>
              <a:t>Proposed Solution:</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Reduce CO2 Emissions: </a:t>
            </a:r>
            <a:r>
              <a:rPr lang="en-US" sz="1400">
                <a:solidFill>
                  <a:schemeClr val="dk1"/>
                </a:solidFill>
                <a:latin typeface="Calibri"/>
                <a:ea typeface="Calibri"/>
                <a:cs typeface="Calibri"/>
                <a:sym typeface="Calibri"/>
              </a:rPr>
              <a:t>Implement policies and technologies to lower emissions.</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Enhance Renewable Energy: </a:t>
            </a:r>
            <a:r>
              <a:rPr lang="en-US" sz="1400">
                <a:solidFill>
                  <a:schemeClr val="dk1"/>
                </a:solidFill>
                <a:latin typeface="Calibri"/>
                <a:ea typeface="Calibri"/>
                <a:cs typeface="Calibri"/>
                <a:sym typeface="Calibri"/>
              </a:rPr>
              <a:t>Promote solar, wind, and other renewable sources.</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Improve Disaster Preparedness</a:t>
            </a:r>
            <a:r>
              <a:rPr b="1" lang="en-US" sz="16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Develop infrastructure and emergency response systems.</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Protect Coastal Areas: </a:t>
            </a:r>
            <a:r>
              <a:rPr lang="en-US" sz="1400">
                <a:solidFill>
                  <a:schemeClr val="dk1"/>
                </a:solidFill>
                <a:latin typeface="Calibri"/>
                <a:ea typeface="Calibri"/>
                <a:cs typeface="Calibri"/>
                <a:sym typeface="Calibri"/>
              </a:rPr>
              <a:t>Invest in coastal defenses and sustainable land use.</a:t>
            </a:r>
            <a:endParaRPr/>
          </a:p>
          <a:p>
            <a:pPr indent="0" lvl="0" marL="12065" marR="627380" rtl="0" algn="l">
              <a:spcBef>
                <a:spcPts val="100"/>
              </a:spcBef>
              <a:spcAft>
                <a:spcPts val="0"/>
              </a:spcAft>
              <a:buNone/>
            </a:pPr>
            <a:r>
              <a:t/>
            </a:r>
            <a:endParaRPr sz="800">
              <a:solidFill>
                <a:schemeClr val="dk1"/>
              </a:solidFill>
              <a:latin typeface="Calibri"/>
              <a:ea typeface="Calibri"/>
              <a:cs typeface="Calibri"/>
              <a:sym typeface="Calibri"/>
            </a:endParaRPr>
          </a:p>
          <a:p>
            <a:pPr indent="0" lvl="0" marL="12065" marR="627380" rtl="0" algn="l">
              <a:spcBef>
                <a:spcPts val="100"/>
              </a:spcBef>
              <a:spcAft>
                <a:spcPts val="0"/>
              </a:spcAft>
              <a:buNone/>
            </a:pPr>
            <a:r>
              <a:rPr b="1" lang="en-US" sz="1600">
                <a:solidFill>
                  <a:schemeClr val="dk1"/>
                </a:solidFill>
                <a:latin typeface="Calibri"/>
                <a:ea typeface="Calibri"/>
                <a:cs typeface="Calibri"/>
                <a:sym typeface="Calibri"/>
              </a:rPr>
              <a:t>Implementation Plan:</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Policy Development:</a:t>
            </a:r>
            <a:endParaRPr/>
          </a:p>
          <a:p>
            <a:pPr indent="0" lvl="0" marL="12065" marR="627380" rtl="0" algn="l">
              <a:spcBef>
                <a:spcPts val="100"/>
              </a:spcBef>
              <a:spcAft>
                <a:spcPts val="0"/>
              </a:spcAft>
              <a:buNone/>
            </a:pPr>
            <a:r>
              <a:rPr b="1" lang="en-US" sz="14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Enact regulations to reduce emissions.</a:t>
            </a:r>
            <a:endParaRPr/>
          </a:p>
          <a:p>
            <a:pPr indent="0" lvl="0" marL="12065" marR="627380" rtl="0" algn="l">
              <a:spcBef>
                <a:spcPts val="100"/>
              </a:spcBef>
              <a:spcAft>
                <a:spcPts val="0"/>
              </a:spcAft>
              <a:buNone/>
            </a:pPr>
            <a:r>
              <a:rPr lang="en-US" sz="1400">
                <a:solidFill>
                  <a:schemeClr val="dk1"/>
                </a:solidFill>
                <a:latin typeface="Calibri"/>
                <a:ea typeface="Calibri"/>
                <a:cs typeface="Calibri"/>
                <a:sym typeface="Calibri"/>
              </a:rPr>
              <a:t>            Provide incentives for renewable energy.</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Technological Innovations</a:t>
            </a:r>
            <a:r>
              <a:rPr lang="en-US" sz="1400">
                <a:solidFill>
                  <a:schemeClr val="dk1"/>
                </a:solidFill>
                <a:latin typeface="Calibri"/>
                <a:ea typeface="Calibri"/>
                <a:cs typeface="Calibri"/>
                <a:sym typeface="Calibri"/>
              </a:rPr>
              <a:t>: </a:t>
            </a:r>
            <a:endParaRPr/>
          </a:p>
          <a:p>
            <a:pPr indent="0" lvl="0" marL="12065" marR="627380" rtl="0" algn="l">
              <a:spcBef>
                <a:spcPts val="100"/>
              </a:spcBef>
              <a:spcAft>
                <a:spcPts val="0"/>
              </a:spcAft>
              <a:buNone/>
            </a:pPr>
            <a:r>
              <a:rPr lang="en-US" sz="1400">
                <a:solidFill>
                  <a:schemeClr val="dk1"/>
                </a:solidFill>
                <a:latin typeface="Calibri"/>
                <a:ea typeface="Calibri"/>
                <a:cs typeface="Calibri"/>
                <a:sym typeface="Calibri"/>
              </a:rPr>
              <a:t>             Invest in clean energy technologies.</a:t>
            </a:r>
            <a:endParaRPr/>
          </a:p>
          <a:p>
            <a:pPr indent="0" lvl="0" marL="12065" marR="627380" rtl="0" algn="l">
              <a:spcBef>
                <a:spcPts val="100"/>
              </a:spcBef>
              <a:spcAft>
                <a:spcPts val="0"/>
              </a:spcAft>
              <a:buNone/>
            </a:pPr>
            <a:r>
              <a:rPr lang="en-US" sz="1400">
                <a:solidFill>
                  <a:schemeClr val="dk1"/>
                </a:solidFill>
                <a:latin typeface="Calibri"/>
                <a:ea typeface="Calibri"/>
                <a:cs typeface="Calibri"/>
                <a:sym typeface="Calibri"/>
              </a:rPr>
              <a:t>             Scale up renewable energy infrastructure.</a:t>
            </a:r>
            <a:endParaRPr/>
          </a:p>
          <a:p>
            <a:pPr indent="0" lvl="0" marL="12065" marR="627380" rtl="0" algn="l">
              <a:spcBef>
                <a:spcPts val="100"/>
              </a:spcBef>
              <a:spcAft>
                <a:spcPts val="0"/>
              </a:spcAft>
              <a:buNone/>
            </a:pPr>
            <a:r>
              <a:t/>
            </a:r>
            <a:endParaRPr sz="800">
              <a:solidFill>
                <a:schemeClr val="dk1"/>
              </a:solidFill>
              <a:latin typeface="Calibri"/>
              <a:ea typeface="Calibri"/>
              <a:cs typeface="Calibri"/>
              <a:sym typeface="Calibri"/>
            </a:endParaRPr>
          </a:p>
          <a:p>
            <a:pPr indent="0" lvl="0" marL="12065" marR="627380" rtl="0" algn="l">
              <a:spcBef>
                <a:spcPts val="100"/>
              </a:spcBef>
              <a:spcAft>
                <a:spcPts val="0"/>
              </a:spcAft>
              <a:buNone/>
            </a:pPr>
            <a:r>
              <a:rPr b="1" lang="en-US" sz="1600">
                <a:solidFill>
                  <a:schemeClr val="dk1"/>
                </a:solidFill>
                <a:latin typeface="Calibri"/>
                <a:ea typeface="Calibri"/>
                <a:cs typeface="Calibri"/>
                <a:sym typeface="Calibri"/>
              </a:rPr>
              <a:t>Alignment with SDGs:</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SDG 13: </a:t>
            </a:r>
            <a:r>
              <a:rPr lang="en-US" sz="1400">
                <a:solidFill>
                  <a:schemeClr val="dk1"/>
                </a:solidFill>
                <a:latin typeface="Calibri"/>
                <a:ea typeface="Calibri"/>
                <a:cs typeface="Calibri"/>
                <a:sym typeface="Calibri"/>
              </a:rPr>
              <a:t>Climate Action</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SDG 7: </a:t>
            </a:r>
            <a:r>
              <a:rPr lang="en-US" sz="1400">
                <a:solidFill>
                  <a:schemeClr val="dk1"/>
                </a:solidFill>
                <a:latin typeface="Calibri"/>
                <a:ea typeface="Calibri"/>
                <a:cs typeface="Calibri"/>
                <a:sym typeface="Calibri"/>
              </a:rPr>
              <a:t>Affordable and Clean Energy</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SDG 11: </a:t>
            </a:r>
            <a:r>
              <a:rPr lang="en-US" sz="1400">
                <a:solidFill>
                  <a:schemeClr val="dk1"/>
                </a:solidFill>
                <a:latin typeface="Calibri"/>
                <a:ea typeface="Calibri"/>
                <a:cs typeface="Calibri"/>
                <a:sym typeface="Calibri"/>
              </a:rPr>
              <a:t>Sustainable Cities and Communities</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SDG 15: </a:t>
            </a:r>
            <a:r>
              <a:rPr lang="en-US" sz="1400">
                <a:solidFill>
                  <a:schemeClr val="dk1"/>
                </a:solidFill>
                <a:latin typeface="Calibri"/>
                <a:ea typeface="Calibri"/>
                <a:cs typeface="Calibri"/>
                <a:sym typeface="Calibri"/>
              </a:rPr>
              <a:t>Life on Land</a:t>
            </a:r>
            <a:endParaRPr/>
          </a:p>
          <a:p>
            <a:pPr indent="0" lvl="0" marL="12065" marR="627380" rtl="0" algn="l">
              <a:spcBef>
                <a:spcPts val="100"/>
              </a:spcBef>
              <a:spcAft>
                <a:spcPts val="0"/>
              </a:spcAft>
              <a:buNone/>
            </a:pPr>
            <a:r>
              <a:t/>
            </a:r>
            <a:endParaRPr sz="1400">
              <a:solidFill>
                <a:schemeClr val="dk1"/>
              </a:solidFill>
              <a:latin typeface="Calibri"/>
              <a:ea typeface="Calibri"/>
              <a:cs typeface="Calibri"/>
              <a:sym typeface="Calibri"/>
            </a:endParaRPr>
          </a:p>
        </p:txBody>
      </p:sp>
      <p:grpSp>
        <p:nvGrpSpPr>
          <p:cNvPr id="142" name="Google Shape;142;p9"/>
          <p:cNvGrpSpPr/>
          <p:nvPr/>
        </p:nvGrpSpPr>
        <p:grpSpPr>
          <a:xfrm>
            <a:off x="-1" y="4971733"/>
            <a:ext cx="9144000" cy="167005"/>
            <a:chOff x="0" y="4976700"/>
            <a:chExt cx="9144000" cy="167005"/>
          </a:xfrm>
        </p:grpSpPr>
        <p:sp>
          <p:nvSpPr>
            <p:cNvPr id="143" name="Google Shape;143;p9"/>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5" name="Google Shape;145;p9"/>
          <p:cNvSpPr txBox="1"/>
          <p:nvPr/>
        </p:nvSpPr>
        <p:spPr>
          <a:xfrm>
            <a:off x="4114800" y="2120877"/>
            <a:ext cx="4572000" cy="1449115"/>
          </a:xfrm>
          <a:prstGeom prst="rect">
            <a:avLst/>
          </a:prstGeom>
          <a:noFill/>
          <a:ln>
            <a:noFill/>
          </a:ln>
        </p:spPr>
        <p:txBody>
          <a:bodyPr anchorCtr="0" anchor="t" bIns="45700" lIns="91425" spcFirstLastPara="1" rIns="91425" wrap="square" tIns="45700">
            <a:spAutoFit/>
          </a:bodyPr>
          <a:lstStyle/>
          <a:p>
            <a:pPr indent="-367030" lvl="0" marL="379095" marR="627380" rtl="0" algn="l">
              <a:spcBef>
                <a:spcPts val="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Community Engagement: </a:t>
            </a:r>
            <a:endParaRPr/>
          </a:p>
          <a:p>
            <a:pPr indent="0" lvl="0" marL="12065" marR="627380" rtl="0" algn="l">
              <a:spcBef>
                <a:spcPts val="100"/>
              </a:spcBef>
              <a:spcAft>
                <a:spcPts val="0"/>
              </a:spcAft>
              <a:buNone/>
            </a:pPr>
            <a:r>
              <a:rPr b="1" lang="en-US" sz="14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Conduct public education campaigns.</a:t>
            </a:r>
            <a:endParaRPr/>
          </a:p>
          <a:p>
            <a:pPr indent="0" lvl="0" marL="12065" marR="627380" rtl="0" algn="l">
              <a:spcBef>
                <a:spcPts val="100"/>
              </a:spcBef>
              <a:spcAft>
                <a:spcPts val="0"/>
              </a:spcAft>
              <a:buNone/>
            </a:pPr>
            <a:r>
              <a:rPr lang="en-US" sz="1400">
                <a:solidFill>
                  <a:schemeClr val="dk1"/>
                </a:solidFill>
                <a:latin typeface="Calibri"/>
                <a:ea typeface="Calibri"/>
                <a:cs typeface="Calibri"/>
                <a:sym typeface="Calibri"/>
              </a:rPr>
              <a:t>             Support community-led resilience projects.</a:t>
            </a:r>
            <a:endParaRPr/>
          </a:p>
          <a:p>
            <a:pPr indent="-367030" lvl="0" marL="37909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Monitoring and Evaluation: </a:t>
            </a:r>
            <a:endParaRPr/>
          </a:p>
          <a:p>
            <a:pPr indent="0" lvl="0" marL="12065" marR="627380" rtl="0" algn="l">
              <a:spcBef>
                <a:spcPts val="100"/>
              </a:spcBef>
              <a:spcAft>
                <a:spcPts val="0"/>
              </a:spcAft>
              <a:buNone/>
            </a:pPr>
            <a:r>
              <a:rPr b="1" lang="en-US" sz="14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Continuously monitor climate metrics.</a:t>
            </a:r>
            <a:endParaRPr/>
          </a:p>
          <a:p>
            <a:pPr indent="0" lvl="0" marL="12065" marR="627380" rtl="0" algn="l">
              <a:spcBef>
                <a:spcPts val="100"/>
              </a:spcBef>
              <a:spcAft>
                <a:spcPts val="0"/>
              </a:spcAft>
              <a:buNone/>
            </a:pPr>
            <a:r>
              <a:rPr lang="en-US" sz="1400">
                <a:solidFill>
                  <a:schemeClr val="dk1"/>
                </a:solidFill>
                <a:latin typeface="Calibri"/>
                <a:ea typeface="Calibri"/>
                <a:cs typeface="Calibri"/>
                <a:sym typeface="Calibri"/>
              </a:rPr>
              <a:t>             Adjust strategies based on data insights.</a:t>
            </a:r>
            <a:endParaRPr sz="1400">
              <a:solidFill>
                <a:schemeClr val="dk1"/>
              </a:solidFill>
              <a:latin typeface="Calibri"/>
              <a:ea typeface="Calibri"/>
              <a:cs typeface="Calibri"/>
              <a:sym typeface="Calibri"/>
            </a:endParaRPr>
          </a:p>
        </p:txBody>
      </p:sp>
      <p:grpSp>
        <p:nvGrpSpPr>
          <p:cNvPr id="146" name="Google Shape;146;p9"/>
          <p:cNvGrpSpPr/>
          <p:nvPr/>
        </p:nvGrpSpPr>
        <p:grpSpPr>
          <a:xfrm>
            <a:off x="4267200" y="3685837"/>
            <a:ext cx="4059775" cy="1219200"/>
            <a:chOff x="4038599" y="3605371"/>
            <a:chExt cx="4059775" cy="1260930"/>
          </a:xfrm>
        </p:grpSpPr>
        <p:pic>
          <p:nvPicPr>
            <p:cNvPr id="147" name="Google Shape;147;p9"/>
            <p:cNvPicPr preferRelativeResize="0"/>
            <p:nvPr/>
          </p:nvPicPr>
          <p:blipFill rotWithShape="1">
            <a:blip r:embed="rId3">
              <a:alphaModFix/>
            </a:blip>
            <a:srcRect b="0" l="0" r="0" t="0"/>
            <a:stretch/>
          </p:blipFill>
          <p:spPr>
            <a:xfrm>
              <a:off x="4038599" y="3605371"/>
              <a:ext cx="1066801" cy="1244601"/>
            </a:xfrm>
            <a:prstGeom prst="rect">
              <a:avLst/>
            </a:prstGeom>
            <a:noFill/>
            <a:ln>
              <a:noFill/>
            </a:ln>
          </p:spPr>
        </p:pic>
        <p:pic>
          <p:nvPicPr>
            <p:cNvPr id="148" name="Google Shape;148;p9"/>
            <p:cNvPicPr preferRelativeResize="0"/>
            <p:nvPr/>
          </p:nvPicPr>
          <p:blipFill rotWithShape="1">
            <a:blip r:embed="rId4">
              <a:alphaModFix/>
            </a:blip>
            <a:srcRect b="0" l="0" r="0" t="0"/>
            <a:stretch/>
          </p:blipFill>
          <p:spPr>
            <a:xfrm>
              <a:off x="5257800" y="3605371"/>
              <a:ext cx="1420287" cy="1244601"/>
            </a:xfrm>
            <a:prstGeom prst="rect">
              <a:avLst/>
            </a:prstGeom>
            <a:noFill/>
            <a:ln>
              <a:noFill/>
            </a:ln>
          </p:spPr>
        </p:pic>
        <p:pic>
          <p:nvPicPr>
            <p:cNvPr id="149" name="Google Shape;149;p9"/>
            <p:cNvPicPr preferRelativeResize="0"/>
            <p:nvPr/>
          </p:nvPicPr>
          <p:blipFill rotWithShape="1">
            <a:blip r:embed="rId5">
              <a:alphaModFix/>
            </a:blip>
            <a:srcRect b="0" l="0" r="0" t="0"/>
            <a:stretch/>
          </p:blipFill>
          <p:spPr>
            <a:xfrm>
              <a:off x="6678087" y="3630651"/>
              <a:ext cx="1420287" cy="12356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1000"/>
                                        <p:tgtEl>
                                          <p:spTgt spid="140"/>
                                        </p:tgtEl>
                                        <p:attrNameLst>
                                          <p:attrName>ppt_w</p:attrName>
                                        </p:attrNameLst>
                                      </p:cBhvr>
                                      <p:tavLst>
                                        <p:tav fmla="" tm="0">
                                          <p:val>
                                            <p:strVal val="0"/>
                                          </p:val>
                                        </p:tav>
                                        <p:tav fmla="" tm="100000">
                                          <p:val>
                                            <p:strVal val="#ppt_w"/>
                                          </p:val>
                                        </p:tav>
                                      </p:tavLst>
                                    </p:anim>
                                    <p:anim calcmode="lin" valueType="num">
                                      <p:cBhvr additive="base">
                                        <p:cTn dur="1000"/>
                                        <p:tgtEl>
                                          <p:spTgt spid="14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10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10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10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1000"/>
                                        <p:tgtEl>
                                          <p:spTgt spid="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animEffect filter="fade" transition="in">
                                      <p:cBhvr>
                                        <p:cTn dur="1000"/>
                                        <p:tgtEl>
                                          <p:spTgt spid="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animEffect filter="fade" transition="in">
                                      <p:cBhvr>
                                        <p:cTn dur="1000"/>
                                        <p:tgtEl>
                                          <p:spTgt spid="1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animEffect filter="fade" transition="in">
                                      <p:cBhvr>
                                        <p:cTn dur="1000"/>
                                        <p:tgtEl>
                                          <p:spTgt spid="1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animEffect filter="fade" transition="in">
                                      <p:cBhvr>
                                        <p:cTn dur="1000"/>
                                        <p:tgtEl>
                                          <p:spTgt spid="1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animEffect filter="fade" transition="in">
                                      <p:cBhvr>
                                        <p:cTn dur="1000"/>
                                        <p:tgtEl>
                                          <p:spTgt spid="1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9" st="9"/>
                                            </p:txEl>
                                          </p:spTgt>
                                        </p:tgtEl>
                                        <p:attrNameLst>
                                          <p:attrName>style.visibility</p:attrName>
                                        </p:attrNameLst>
                                      </p:cBhvr>
                                      <p:to>
                                        <p:strVal val="visible"/>
                                      </p:to>
                                    </p:set>
                                    <p:animEffect filter="fade" transition="in">
                                      <p:cBhvr>
                                        <p:cTn dur="1000"/>
                                        <p:tgtEl>
                                          <p:spTgt spid="14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0" st="10"/>
                                            </p:txEl>
                                          </p:spTgt>
                                        </p:tgtEl>
                                        <p:attrNameLst>
                                          <p:attrName>style.visibility</p:attrName>
                                        </p:attrNameLst>
                                      </p:cBhvr>
                                      <p:to>
                                        <p:strVal val="visible"/>
                                      </p:to>
                                    </p:set>
                                    <p:animEffect filter="fade" transition="in">
                                      <p:cBhvr>
                                        <p:cTn dur="1000"/>
                                        <p:tgtEl>
                                          <p:spTgt spid="14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1" st="11"/>
                                            </p:txEl>
                                          </p:spTgt>
                                        </p:tgtEl>
                                        <p:attrNameLst>
                                          <p:attrName>style.visibility</p:attrName>
                                        </p:attrNameLst>
                                      </p:cBhvr>
                                      <p:to>
                                        <p:strVal val="visible"/>
                                      </p:to>
                                    </p:set>
                                    <p:animEffect filter="fade" transition="in">
                                      <p:cBhvr>
                                        <p:cTn dur="1000"/>
                                        <p:tgtEl>
                                          <p:spTgt spid="14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2" st="12"/>
                                            </p:txEl>
                                          </p:spTgt>
                                        </p:tgtEl>
                                        <p:attrNameLst>
                                          <p:attrName>style.visibility</p:attrName>
                                        </p:attrNameLst>
                                      </p:cBhvr>
                                      <p:to>
                                        <p:strVal val="visible"/>
                                      </p:to>
                                    </p:set>
                                    <p:animEffect filter="fade" transition="in">
                                      <p:cBhvr>
                                        <p:cTn dur="1000"/>
                                        <p:tgtEl>
                                          <p:spTgt spid="14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3" st="13"/>
                                            </p:txEl>
                                          </p:spTgt>
                                        </p:tgtEl>
                                        <p:attrNameLst>
                                          <p:attrName>style.visibility</p:attrName>
                                        </p:attrNameLst>
                                      </p:cBhvr>
                                      <p:to>
                                        <p:strVal val="visible"/>
                                      </p:to>
                                    </p:set>
                                    <p:animEffect filter="fade" transition="in">
                                      <p:cBhvr>
                                        <p:cTn dur="1000"/>
                                        <p:tgtEl>
                                          <p:spTgt spid="14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4" st="14"/>
                                            </p:txEl>
                                          </p:spTgt>
                                        </p:tgtEl>
                                        <p:attrNameLst>
                                          <p:attrName>style.visibility</p:attrName>
                                        </p:attrNameLst>
                                      </p:cBhvr>
                                      <p:to>
                                        <p:strVal val="visible"/>
                                      </p:to>
                                    </p:set>
                                    <p:animEffect filter="fade" transition="in">
                                      <p:cBhvr>
                                        <p:cTn dur="1000"/>
                                        <p:tgtEl>
                                          <p:spTgt spid="14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5" st="15"/>
                                            </p:txEl>
                                          </p:spTgt>
                                        </p:tgtEl>
                                        <p:attrNameLst>
                                          <p:attrName>style.visibility</p:attrName>
                                        </p:attrNameLst>
                                      </p:cBhvr>
                                      <p:to>
                                        <p:strVal val="visible"/>
                                      </p:to>
                                    </p:set>
                                    <p:animEffect filter="fade" transition="in">
                                      <p:cBhvr>
                                        <p:cTn dur="1000"/>
                                        <p:tgtEl>
                                          <p:spTgt spid="14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6" st="16"/>
                                            </p:txEl>
                                          </p:spTgt>
                                        </p:tgtEl>
                                        <p:attrNameLst>
                                          <p:attrName>style.visibility</p:attrName>
                                        </p:attrNameLst>
                                      </p:cBhvr>
                                      <p:to>
                                        <p:strVal val="visible"/>
                                      </p:to>
                                    </p:set>
                                    <p:animEffect filter="fade" transition="in">
                                      <p:cBhvr>
                                        <p:cTn dur="1000"/>
                                        <p:tgtEl>
                                          <p:spTgt spid="141">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7" st="17"/>
                                            </p:txEl>
                                          </p:spTgt>
                                        </p:tgtEl>
                                        <p:attrNameLst>
                                          <p:attrName>style.visibility</p:attrName>
                                        </p:attrNameLst>
                                      </p:cBhvr>
                                      <p:to>
                                        <p:strVal val="visible"/>
                                      </p:to>
                                    </p:set>
                                    <p:animEffect filter="fade" transition="in">
                                      <p:cBhvr>
                                        <p:cTn dur="1000"/>
                                        <p:tgtEl>
                                          <p:spTgt spid="141">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8" st="18"/>
                                            </p:txEl>
                                          </p:spTgt>
                                        </p:tgtEl>
                                        <p:attrNameLst>
                                          <p:attrName>style.visibility</p:attrName>
                                        </p:attrNameLst>
                                      </p:cBhvr>
                                      <p:to>
                                        <p:strVal val="visible"/>
                                      </p:to>
                                    </p:set>
                                    <p:animEffect filter="fade" transition="in">
                                      <p:cBhvr>
                                        <p:cTn dur="1000"/>
                                        <p:tgtEl>
                                          <p:spTgt spid="141">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9" st="19"/>
                                            </p:txEl>
                                          </p:spTgt>
                                        </p:tgtEl>
                                        <p:attrNameLst>
                                          <p:attrName>style.visibility</p:attrName>
                                        </p:attrNameLst>
                                      </p:cBhvr>
                                      <p:to>
                                        <p:strVal val="visible"/>
                                      </p:to>
                                    </p:set>
                                    <p:animEffect filter="fade" transition="in">
                                      <p:cBhvr>
                                        <p:cTn dur="1000"/>
                                        <p:tgtEl>
                                          <p:spTgt spid="141">
                                            <p:txEl>
                                              <p:pRg end="19" st="19"/>
                                            </p:txEl>
                                          </p:spTgt>
                                        </p:tgtEl>
                                      </p:cBhvr>
                                    </p:animEffect>
                                  </p:childTnLst>
                                </p:cTn>
                              </p:par>
                              <p:par>
                                <p:cTn fill="hold" nodeType="withEffect" presetClass="entr" presetID="23" presetSubtype="16">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000"/>
                                        <p:tgtEl>
                                          <p:spTgt spid="146"/>
                                        </p:tgtEl>
                                        <p:attrNameLst>
                                          <p:attrName>ppt_w</p:attrName>
                                        </p:attrNameLst>
                                      </p:cBhvr>
                                      <p:tavLst>
                                        <p:tav fmla="" tm="0">
                                          <p:val>
                                            <p:strVal val="0"/>
                                          </p:val>
                                        </p:tav>
                                        <p:tav fmla="" tm="100000">
                                          <p:val>
                                            <p:strVal val="#ppt_w"/>
                                          </p:val>
                                        </p:tav>
                                      </p:tavLst>
                                    </p:anim>
                                    <p:anim calcmode="lin" valueType="num">
                                      <p:cBhvr additive="base">
                                        <p:cTn dur="1000"/>
                                        <p:tgtEl>
                                          <p:spTgt spid="1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1000"/>
                                        <p:tgtEl>
                                          <p:spTgt spid="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Effect filter="fade" transition="in">
                                      <p:cBhvr>
                                        <p:cTn dur="1000"/>
                                        <p:tgtEl>
                                          <p:spTgt spid="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Effect filter="fade" transition="in">
                                      <p:cBhvr>
                                        <p:cTn dur="1000"/>
                                        <p:tgtEl>
                                          <p:spTgt spid="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Effect filter="fade" transition="in">
                                      <p:cBhvr>
                                        <p:cTn dur="1000"/>
                                        <p:tgtEl>
                                          <p:spTgt spid="1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animEffect filter="fade" transition="in">
                                      <p:cBhvr>
                                        <p:cTn dur="1000"/>
                                        <p:tgtEl>
                                          <p:spTgt spid="1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animEffect filter="fade" transition="in">
                                      <p:cBhvr>
                                        <p:cTn dur="1000"/>
                                        <p:tgtEl>
                                          <p:spTgt spid="14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3" name="Shape 153"/>
        <p:cNvGrpSpPr/>
        <p:nvPr/>
      </p:nvGrpSpPr>
      <p:grpSpPr>
        <a:xfrm>
          <a:off x="0" y="0"/>
          <a:ext cx="0" cy="0"/>
          <a:chOff x="0" y="0"/>
          <a:chExt cx="0" cy="0"/>
        </a:xfrm>
      </p:grpSpPr>
      <p:pic>
        <p:nvPicPr>
          <p:cNvPr id="154" name="Google Shape;154;p10"/>
          <p:cNvPicPr preferRelativeResize="0"/>
          <p:nvPr/>
        </p:nvPicPr>
        <p:blipFill rotWithShape="1">
          <a:blip r:embed="rId3">
            <a:alphaModFix amt="20000"/>
          </a:blip>
          <a:srcRect b="0" l="0" r="0" t="0"/>
          <a:stretch/>
        </p:blipFill>
        <p:spPr>
          <a:xfrm>
            <a:off x="0" y="0"/>
            <a:ext cx="9144000" cy="5143500"/>
          </a:xfrm>
          <a:prstGeom prst="rect">
            <a:avLst/>
          </a:prstGeom>
          <a:noFill/>
          <a:ln>
            <a:noFill/>
          </a:ln>
        </p:spPr>
      </p:pic>
      <p:sp>
        <p:nvSpPr>
          <p:cNvPr id="155" name="Google Shape;155;p10"/>
          <p:cNvSpPr txBox="1"/>
          <p:nvPr>
            <p:ph type="title"/>
          </p:nvPr>
        </p:nvSpPr>
        <p:spPr>
          <a:xfrm>
            <a:off x="260825" y="212030"/>
            <a:ext cx="136842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Visualization</a:t>
            </a:r>
            <a:endParaRPr/>
          </a:p>
        </p:txBody>
      </p:sp>
      <p:sp>
        <p:nvSpPr>
          <p:cNvPr id="156" name="Google Shape;156;p10"/>
          <p:cNvSpPr txBox="1"/>
          <p:nvPr/>
        </p:nvSpPr>
        <p:spPr>
          <a:xfrm>
            <a:off x="381000" y="666750"/>
            <a:ext cx="8534400" cy="4175502"/>
          </a:xfrm>
          <a:prstGeom prst="rect">
            <a:avLst/>
          </a:prstGeom>
          <a:noFill/>
          <a:ln>
            <a:noFill/>
          </a:ln>
        </p:spPr>
        <p:txBody>
          <a:bodyPr anchorCtr="0" anchor="t" bIns="0" lIns="0" spcFirstLastPara="1" rIns="0" wrap="square" tIns="12700">
            <a:spAutoFit/>
          </a:bodyPr>
          <a:lstStyle/>
          <a:p>
            <a:pPr indent="0" lvl="0" marL="0" marR="627380" rtl="0" algn="l">
              <a:lnSpc>
                <a:spcPct val="100000"/>
              </a:lnSpc>
              <a:spcBef>
                <a:spcPts val="0"/>
              </a:spcBef>
              <a:spcAft>
                <a:spcPts val="0"/>
              </a:spcAft>
              <a:buNone/>
            </a:pPr>
            <a:r>
              <a:rPr b="1" lang="en-US" sz="1600">
                <a:solidFill>
                  <a:schemeClr val="dk1"/>
                </a:solidFill>
                <a:latin typeface="Calibri"/>
                <a:ea typeface="Calibri"/>
                <a:cs typeface="Calibri"/>
                <a:sym typeface="Calibri"/>
              </a:rPr>
              <a:t>Data Visualization Techniques Used:</a:t>
            </a:r>
            <a:endParaRPr/>
          </a:p>
          <a:p>
            <a:pPr indent="-12065" lvl="0" marL="12065" marR="62738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Charts and Graphs:</a:t>
            </a:r>
            <a:endParaRPr/>
          </a:p>
          <a:p>
            <a:pPr indent="-12065" lvl="0" marL="12065" marR="627380" rtl="0" algn="l">
              <a:lnSpc>
                <a:spcPct val="100000"/>
              </a:lnSpc>
              <a:spcBef>
                <a:spcPts val="10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Line Graphs: Show trends in global temperatures and CO2 emissions over time.</a:t>
            </a:r>
            <a:endParaRPr/>
          </a:p>
          <a:p>
            <a:pPr indent="-12065" lvl="0" marL="12065" marR="627380" rtl="0" algn="l">
              <a:lnSpc>
                <a:spcPct val="100000"/>
              </a:lnSpc>
              <a:spcBef>
                <a:spcPts val="10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Bar Charts: Compare the frequency and intensity of extreme weather events.</a:t>
            </a:r>
            <a:endParaRPr/>
          </a:p>
          <a:p>
            <a:pPr indent="-12065" lvl="0" marL="12065" marR="627380" rtl="0" algn="l">
              <a:lnSpc>
                <a:spcPct val="100000"/>
              </a:lnSpc>
              <a:spcBef>
                <a:spcPts val="10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Scatter Plots: Illustrate the correlation between CO2 levels and temperature changes.</a:t>
            </a:r>
            <a:endParaRPr/>
          </a:p>
          <a:p>
            <a:pPr indent="-12065" lvl="0" marL="1206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Maps:</a:t>
            </a:r>
            <a:endParaRPr/>
          </a:p>
          <a:p>
            <a:pPr indent="-12065" lvl="0" marL="12065" marR="627380" rtl="0" algn="l">
              <a:lnSpc>
                <a:spcPct val="100000"/>
              </a:lnSpc>
              <a:spcBef>
                <a:spcPts val="10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Heat Maps: Display regional temperature anomalies and hotspots.</a:t>
            </a:r>
            <a:endParaRPr/>
          </a:p>
          <a:p>
            <a:pPr indent="-12065" lvl="0" marL="12065" marR="627380" rtl="0" algn="l">
              <a:lnSpc>
                <a:spcPct val="100000"/>
              </a:lnSpc>
              <a:spcBef>
                <a:spcPts val="10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Choropleth Maps: Highlight areas most affected by sea level rise.</a:t>
            </a:r>
            <a:endParaRPr/>
          </a:p>
          <a:p>
            <a:pPr indent="-12065" lvl="0" marL="1206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Dashboards: </a:t>
            </a:r>
            <a:endParaRPr/>
          </a:p>
          <a:p>
            <a:pPr indent="-12065" lvl="0" marL="12065" marR="627380" rtl="0" algn="l">
              <a:lnSpc>
                <a:spcPct val="100000"/>
              </a:lnSpc>
              <a:spcBef>
                <a:spcPts val="10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Interactive Dashboards: Created with Power BI and Tableau for real-time data</a:t>
            </a:r>
            <a:r>
              <a:rPr b="1" lang="en-US" sz="16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exploration and analysis.</a:t>
            </a:r>
            <a:endParaRPr/>
          </a:p>
          <a:p>
            <a:pPr indent="0" lvl="0" marL="0" marR="627380" rtl="0" algn="l">
              <a:lnSpc>
                <a:spcPct val="100000"/>
              </a:lnSpc>
              <a:spcBef>
                <a:spcPts val="100"/>
              </a:spcBef>
              <a:spcAft>
                <a:spcPts val="0"/>
              </a:spcAft>
              <a:buNone/>
            </a:pPr>
            <a:r>
              <a:t/>
            </a:r>
            <a:endParaRPr sz="800">
              <a:solidFill>
                <a:schemeClr val="dk1"/>
              </a:solidFill>
              <a:latin typeface="Calibri"/>
              <a:ea typeface="Calibri"/>
              <a:cs typeface="Calibri"/>
              <a:sym typeface="Calibri"/>
            </a:endParaRPr>
          </a:p>
          <a:p>
            <a:pPr indent="0" lvl="0" marL="0" marR="627380" rtl="0" algn="l">
              <a:lnSpc>
                <a:spcPct val="100000"/>
              </a:lnSpc>
              <a:spcBef>
                <a:spcPts val="100"/>
              </a:spcBef>
              <a:spcAft>
                <a:spcPts val="0"/>
              </a:spcAft>
              <a:buNone/>
            </a:pPr>
            <a:r>
              <a:rPr b="1" lang="en-US" sz="1600">
                <a:solidFill>
                  <a:schemeClr val="dk1"/>
                </a:solidFill>
                <a:latin typeface="Calibri"/>
                <a:ea typeface="Calibri"/>
                <a:cs typeface="Calibri"/>
                <a:sym typeface="Calibri"/>
              </a:rPr>
              <a:t>Key Visual Insights:</a:t>
            </a:r>
            <a:endParaRPr/>
          </a:p>
          <a:p>
            <a:pPr indent="-12065" lvl="0" marL="1206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Global Temperature Rise: </a:t>
            </a:r>
            <a:r>
              <a:rPr lang="en-US" sz="1400">
                <a:solidFill>
                  <a:schemeClr val="dk1"/>
                </a:solidFill>
                <a:latin typeface="Calibri"/>
                <a:ea typeface="Calibri"/>
                <a:cs typeface="Calibri"/>
                <a:sym typeface="Calibri"/>
              </a:rPr>
              <a:t>Clear upward trend in global temperatures, especially in recent decades.</a:t>
            </a:r>
            <a:endParaRPr/>
          </a:p>
          <a:p>
            <a:pPr indent="-12065" lvl="0" marL="1206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CO2 Emissions Growth: </a:t>
            </a:r>
            <a:r>
              <a:rPr lang="en-US" sz="1400">
                <a:solidFill>
                  <a:schemeClr val="dk1"/>
                </a:solidFill>
                <a:latin typeface="Calibri"/>
                <a:ea typeface="Calibri"/>
                <a:cs typeface="Calibri"/>
                <a:sym typeface="Calibri"/>
              </a:rPr>
              <a:t>Steady increase in CO2 emissions, with significant contributions from industrial sectors.</a:t>
            </a:r>
            <a:endParaRPr/>
          </a:p>
          <a:p>
            <a:pPr indent="-12065" lvl="0" marL="1206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Extreme Weather Patterns</a:t>
            </a:r>
            <a:r>
              <a:rPr lang="en-US" sz="1400">
                <a:solidFill>
                  <a:schemeClr val="dk1"/>
                </a:solidFill>
                <a:latin typeface="Calibri"/>
                <a:ea typeface="Calibri"/>
                <a:cs typeface="Calibri"/>
                <a:sym typeface="Calibri"/>
              </a:rPr>
              <a:t>: Increased frequency and intensity of extreme weather events such as hurricanes and floods.</a:t>
            </a:r>
            <a:endParaRPr/>
          </a:p>
          <a:p>
            <a:pPr indent="-12065" lvl="0" marL="12065" marR="62738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Regional Vulnerabilities: </a:t>
            </a:r>
            <a:r>
              <a:rPr lang="en-US" sz="1400">
                <a:solidFill>
                  <a:schemeClr val="dk1"/>
                </a:solidFill>
                <a:latin typeface="Calibri"/>
                <a:ea typeface="Calibri"/>
                <a:cs typeface="Calibri"/>
                <a:sym typeface="Calibri"/>
              </a:rPr>
              <a:t>Coastal areas show higher sea level rise, indicating greater vulnerability.</a:t>
            </a:r>
            <a:endParaRPr sz="1400">
              <a:solidFill>
                <a:schemeClr val="dk1"/>
              </a:solidFill>
              <a:latin typeface="Calibri"/>
              <a:ea typeface="Calibri"/>
              <a:cs typeface="Calibri"/>
              <a:sym typeface="Calibri"/>
            </a:endParaRPr>
          </a:p>
        </p:txBody>
      </p:sp>
      <p:grpSp>
        <p:nvGrpSpPr>
          <p:cNvPr id="157" name="Google Shape;157;p10"/>
          <p:cNvGrpSpPr/>
          <p:nvPr/>
        </p:nvGrpSpPr>
        <p:grpSpPr>
          <a:xfrm>
            <a:off x="0" y="4976700"/>
            <a:ext cx="9144000" cy="167005"/>
            <a:chOff x="0" y="4976700"/>
            <a:chExt cx="9144000" cy="167005"/>
          </a:xfrm>
        </p:grpSpPr>
        <p:sp>
          <p:nvSpPr>
            <p:cNvPr id="158" name="Google Shape;158;p10"/>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0"/>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1000"/>
                                        <p:tgtEl>
                                          <p:spTgt spid="155"/>
                                        </p:tgtEl>
                                        <p:attrNameLst>
                                          <p:attrName>ppt_w</p:attrName>
                                        </p:attrNameLst>
                                      </p:cBhvr>
                                      <p:tavLst>
                                        <p:tav fmla="" tm="0">
                                          <p:val>
                                            <p:strVal val="0"/>
                                          </p:val>
                                        </p:tav>
                                        <p:tav fmla="" tm="100000">
                                          <p:val>
                                            <p:strVal val="#ppt_w"/>
                                          </p:val>
                                        </p:tav>
                                      </p:tavLst>
                                    </p:anim>
                                    <p:anim calcmode="lin" valueType="num">
                                      <p:cBhvr additive="base">
                                        <p:cTn dur="1000"/>
                                        <p:tgtEl>
                                          <p:spTgt spid="1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10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Effect filter="fade" transition="in">
                                      <p:cBhvr>
                                        <p:cTn dur="1000"/>
                                        <p:tgtEl>
                                          <p:spTgt spid="1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Effect filter="fade" transition="in">
                                      <p:cBhvr>
                                        <p:cTn dur="1000"/>
                                        <p:tgtEl>
                                          <p:spTgt spid="1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3" st="3"/>
                                            </p:txEl>
                                          </p:spTgt>
                                        </p:tgtEl>
                                        <p:attrNameLst>
                                          <p:attrName>style.visibility</p:attrName>
                                        </p:attrNameLst>
                                      </p:cBhvr>
                                      <p:to>
                                        <p:strVal val="visible"/>
                                      </p:to>
                                    </p:set>
                                    <p:animEffect filter="fade" transition="in">
                                      <p:cBhvr>
                                        <p:cTn dur="1000"/>
                                        <p:tgtEl>
                                          <p:spTgt spid="1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4" st="4"/>
                                            </p:txEl>
                                          </p:spTgt>
                                        </p:tgtEl>
                                        <p:attrNameLst>
                                          <p:attrName>style.visibility</p:attrName>
                                        </p:attrNameLst>
                                      </p:cBhvr>
                                      <p:to>
                                        <p:strVal val="visible"/>
                                      </p:to>
                                    </p:set>
                                    <p:animEffect filter="fade" transition="in">
                                      <p:cBhvr>
                                        <p:cTn dur="1000"/>
                                        <p:tgtEl>
                                          <p:spTgt spid="1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5" st="5"/>
                                            </p:txEl>
                                          </p:spTgt>
                                        </p:tgtEl>
                                        <p:attrNameLst>
                                          <p:attrName>style.visibility</p:attrName>
                                        </p:attrNameLst>
                                      </p:cBhvr>
                                      <p:to>
                                        <p:strVal val="visible"/>
                                      </p:to>
                                    </p:set>
                                    <p:animEffect filter="fade" transition="in">
                                      <p:cBhvr>
                                        <p:cTn dur="1000"/>
                                        <p:tgtEl>
                                          <p:spTgt spid="1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6" st="6"/>
                                            </p:txEl>
                                          </p:spTgt>
                                        </p:tgtEl>
                                        <p:attrNameLst>
                                          <p:attrName>style.visibility</p:attrName>
                                        </p:attrNameLst>
                                      </p:cBhvr>
                                      <p:to>
                                        <p:strVal val="visible"/>
                                      </p:to>
                                    </p:set>
                                    <p:animEffect filter="fade" transition="in">
                                      <p:cBhvr>
                                        <p:cTn dur="1000"/>
                                        <p:tgtEl>
                                          <p:spTgt spid="1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7" st="7"/>
                                            </p:txEl>
                                          </p:spTgt>
                                        </p:tgtEl>
                                        <p:attrNameLst>
                                          <p:attrName>style.visibility</p:attrName>
                                        </p:attrNameLst>
                                      </p:cBhvr>
                                      <p:to>
                                        <p:strVal val="visible"/>
                                      </p:to>
                                    </p:set>
                                    <p:animEffect filter="fade" transition="in">
                                      <p:cBhvr>
                                        <p:cTn dur="1000"/>
                                        <p:tgtEl>
                                          <p:spTgt spid="1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8" st="8"/>
                                            </p:txEl>
                                          </p:spTgt>
                                        </p:tgtEl>
                                        <p:attrNameLst>
                                          <p:attrName>style.visibility</p:attrName>
                                        </p:attrNameLst>
                                      </p:cBhvr>
                                      <p:to>
                                        <p:strVal val="visible"/>
                                      </p:to>
                                    </p:set>
                                    <p:animEffect filter="fade" transition="in">
                                      <p:cBhvr>
                                        <p:cTn dur="1000"/>
                                        <p:tgtEl>
                                          <p:spTgt spid="1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9" st="9"/>
                                            </p:txEl>
                                          </p:spTgt>
                                        </p:tgtEl>
                                        <p:attrNameLst>
                                          <p:attrName>style.visibility</p:attrName>
                                        </p:attrNameLst>
                                      </p:cBhvr>
                                      <p:to>
                                        <p:strVal val="visible"/>
                                      </p:to>
                                    </p:set>
                                    <p:animEffect filter="fade" transition="in">
                                      <p:cBhvr>
                                        <p:cTn dur="1000"/>
                                        <p:tgtEl>
                                          <p:spTgt spid="1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0" st="10"/>
                                            </p:txEl>
                                          </p:spTgt>
                                        </p:tgtEl>
                                        <p:attrNameLst>
                                          <p:attrName>style.visibility</p:attrName>
                                        </p:attrNameLst>
                                      </p:cBhvr>
                                      <p:to>
                                        <p:strVal val="visible"/>
                                      </p:to>
                                    </p:set>
                                    <p:animEffect filter="fade" transition="in">
                                      <p:cBhvr>
                                        <p:cTn dur="1000"/>
                                        <p:tgtEl>
                                          <p:spTgt spid="15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1" st="11"/>
                                            </p:txEl>
                                          </p:spTgt>
                                        </p:tgtEl>
                                        <p:attrNameLst>
                                          <p:attrName>style.visibility</p:attrName>
                                        </p:attrNameLst>
                                      </p:cBhvr>
                                      <p:to>
                                        <p:strVal val="visible"/>
                                      </p:to>
                                    </p:set>
                                    <p:animEffect filter="fade" transition="in">
                                      <p:cBhvr>
                                        <p:cTn dur="1000"/>
                                        <p:tgtEl>
                                          <p:spTgt spid="15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2" st="12"/>
                                            </p:txEl>
                                          </p:spTgt>
                                        </p:tgtEl>
                                        <p:attrNameLst>
                                          <p:attrName>style.visibility</p:attrName>
                                        </p:attrNameLst>
                                      </p:cBhvr>
                                      <p:to>
                                        <p:strVal val="visible"/>
                                      </p:to>
                                    </p:set>
                                    <p:animEffect filter="fade" transition="in">
                                      <p:cBhvr>
                                        <p:cTn dur="1000"/>
                                        <p:tgtEl>
                                          <p:spTgt spid="15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3" st="13"/>
                                            </p:txEl>
                                          </p:spTgt>
                                        </p:tgtEl>
                                        <p:attrNameLst>
                                          <p:attrName>style.visibility</p:attrName>
                                        </p:attrNameLst>
                                      </p:cBhvr>
                                      <p:to>
                                        <p:strVal val="visible"/>
                                      </p:to>
                                    </p:set>
                                    <p:animEffect filter="fade" transition="in">
                                      <p:cBhvr>
                                        <p:cTn dur="1000"/>
                                        <p:tgtEl>
                                          <p:spTgt spid="15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4" st="14"/>
                                            </p:txEl>
                                          </p:spTgt>
                                        </p:tgtEl>
                                        <p:attrNameLst>
                                          <p:attrName>style.visibility</p:attrName>
                                        </p:attrNameLst>
                                      </p:cBhvr>
                                      <p:to>
                                        <p:strVal val="visible"/>
                                      </p:to>
                                    </p:set>
                                    <p:animEffect filter="fade" transition="in">
                                      <p:cBhvr>
                                        <p:cTn dur="1000"/>
                                        <p:tgtEl>
                                          <p:spTgt spid="15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5" st="15"/>
                                            </p:txEl>
                                          </p:spTgt>
                                        </p:tgtEl>
                                        <p:attrNameLst>
                                          <p:attrName>style.visibility</p:attrName>
                                        </p:attrNameLst>
                                      </p:cBhvr>
                                      <p:to>
                                        <p:strVal val="visible"/>
                                      </p:to>
                                    </p:set>
                                    <p:animEffect filter="fade" transition="in">
                                      <p:cBhvr>
                                        <p:cTn dur="1000"/>
                                        <p:tgtEl>
                                          <p:spTgt spid="156">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3" name="Shape 163"/>
        <p:cNvGrpSpPr/>
        <p:nvPr/>
      </p:nvGrpSpPr>
      <p:grpSpPr>
        <a:xfrm>
          <a:off x="0" y="0"/>
          <a:ext cx="0" cy="0"/>
          <a:chOff x="0" y="0"/>
          <a:chExt cx="0" cy="0"/>
        </a:xfrm>
      </p:grpSpPr>
      <p:sp>
        <p:nvSpPr>
          <p:cNvPr id="164" name="Google Shape;164;p11"/>
          <p:cNvSpPr txBox="1"/>
          <p:nvPr/>
        </p:nvSpPr>
        <p:spPr>
          <a:xfrm>
            <a:off x="281700" y="232881"/>
            <a:ext cx="118173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Conclusion</a:t>
            </a:r>
            <a:endParaRPr sz="1800">
              <a:solidFill>
                <a:schemeClr val="dk1"/>
              </a:solidFill>
              <a:latin typeface="Verdana"/>
              <a:ea typeface="Verdana"/>
              <a:cs typeface="Verdana"/>
              <a:sym typeface="Verdana"/>
            </a:endParaRPr>
          </a:p>
        </p:txBody>
      </p:sp>
      <p:sp>
        <p:nvSpPr>
          <p:cNvPr id="165" name="Google Shape;165;p11"/>
          <p:cNvSpPr txBox="1"/>
          <p:nvPr/>
        </p:nvSpPr>
        <p:spPr>
          <a:xfrm>
            <a:off x="419100" y="717823"/>
            <a:ext cx="8305799" cy="3911327"/>
          </a:xfrm>
          <a:prstGeom prst="rect">
            <a:avLst/>
          </a:prstGeom>
          <a:noFill/>
          <a:ln>
            <a:noFill/>
          </a:ln>
        </p:spPr>
        <p:txBody>
          <a:bodyPr anchorCtr="0" anchor="t" bIns="0" lIns="0" spcFirstLastPara="1" rIns="0" wrap="square" tIns="12700">
            <a:spAutoFit/>
          </a:bodyPr>
          <a:lstStyle/>
          <a:p>
            <a:pPr indent="0" lvl="0" marL="12065" marR="0" rtl="0" algn="l">
              <a:lnSpc>
                <a:spcPct val="100000"/>
              </a:lnSpc>
              <a:spcBef>
                <a:spcPts val="0"/>
              </a:spcBef>
              <a:spcAft>
                <a:spcPts val="0"/>
              </a:spcAft>
              <a:buNone/>
            </a:pPr>
            <a:r>
              <a:rPr b="1" lang="en-US" sz="1600">
                <a:solidFill>
                  <a:schemeClr val="dk1"/>
                </a:solidFill>
                <a:latin typeface="Calibri"/>
                <a:ea typeface="Calibri"/>
                <a:cs typeface="Calibri"/>
                <a:sym typeface="Calibri"/>
              </a:rPr>
              <a:t>Summary of Findings: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Temperature Rise: </a:t>
            </a:r>
            <a:r>
              <a:rPr lang="en-US" sz="1400">
                <a:solidFill>
                  <a:schemeClr val="dk1"/>
                </a:solidFill>
                <a:latin typeface="Calibri"/>
                <a:ea typeface="Calibri"/>
                <a:cs typeface="Calibri"/>
                <a:sym typeface="Calibri"/>
              </a:rPr>
              <a:t>Significant increase over the past century.</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CO2 Emissions: </a:t>
            </a:r>
            <a:r>
              <a:rPr lang="en-US" sz="1400">
                <a:solidFill>
                  <a:schemeClr val="dk1"/>
                </a:solidFill>
                <a:latin typeface="Calibri"/>
                <a:ea typeface="Calibri"/>
                <a:cs typeface="Calibri"/>
                <a:sym typeface="Calibri"/>
              </a:rPr>
              <a:t>Continuous rise from industrial sectors.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Sea Level Rise: </a:t>
            </a:r>
            <a:r>
              <a:rPr lang="en-US" sz="1400">
                <a:solidFill>
                  <a:schemeClr val="dk1"/>
                </a:solidFill>
                <a:latin typeface="Calibri"/>
                <a:ea typeface="Calibri"/>
                <a:cs typeface="Calibri"/>
                <a:sym typeface="Calibri"/>
              </a:rPr>
              <a:t>Accelerated rise, especially in coastal areas.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Extreme Weather: </a:t>
            </a:r>
            <a:r>
              <a:rPr lang="en-US" sz="1400">
                <a:solidFill>
                  <a:schemeClr val="dk1"/>
                </a:solidFill>
                <a:latin typeface="Calibri"/>
                <a:ea typeface="Calibri"/>
                <a:cs typeface="Calibri"/>
                <a:sym typeface="Calibri"/>
              </a:rPr>
              <a:t>Increased frequency and intensity linked to climate change.</a:t>
            </a:r>
            <a:endParaRPr/>
          </a:p>
          <a:p>
            <a:pPr indent="0" lvl="0" marL="12065" marR="0" rtl="0" algn="l">
              <a:lnSpc>
                <a:spcPct val="100000"/>
              </a:lnSpc>
              <a:spcBef>
                <a:spcPts val="100"/>
              </a:spcBef>
              <a:spcAft>
                <a:spcPts val="0"/>
              </a:spcAft>
              <a:buNone/>
            </a:pPr>
            <a:r>
              <a:t/>
            </a:r>
            <a:endParaRPr b="1" sz="800">
              <a:solidFill>
                <a:schemeClr val="dk1"/>
              </a:solidFill>
              <a:latin typeface="Calibri"/>
              <a:ea typeface="Calibri"/>
              <a:cs typeface="Calibri"/>
              <a:sym typeface="Calibri"/>
            </a:endParaRPr>
          </a:p>
          <a:p>
            <a:pPr indent="0" lvl="0" marL="12065" marR="0" rtl="0" algn="l">
              <a:lnSpc>
                <a:spcPct val="100000"/>
              </a:lnSpc>
              <a:spcBef>
                <a:spcPts val="100"/>
              </a:spcBef>
              <a:spcAft>
                <a:spcPts val="0"/>
              </a:spcAft>
              <a:buNone/>
            </a:pPr>
            <a:r>
              <a:rPr b="1" lang="en-US" sz="1600">
                <a:solidFill>
                  <a:schemeClr val="dk1"/>
                </a:solidFill>
                <a:latin typeface="Calibri"/>
                <a:ea typeface="Calibri"/>
                <a:cs typeface="Calibri"/>
                <a:sym typeface="Calibri"/>
              </a:rPr>
              <a:t>Impact of Proposed Solution:</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Reduced Emissions: </a:t>
            </a:r>
            <a:r>
              <a:rPr lang="en-US" sz="1400">
                <a:solidFill>
                  <a:schemeClr val="dk1"/>
                </a:solidFill>
                <a:latin typeface="Calibri"/>
                <a:ea typeface="Calibri"/>
                <a:cs typeface="Calibri"/>
                <a:sym typeface="Calibri"/>
              </a:rPr>
              <a:t>Lower CO2 levels through policies and renewable energy.</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Enhanced Resilience: </a:t>
            </a:r>
            <a:r>
              <a:rPr lang="en-US" sz="1400">
                <a:solidFill>
                  <a:schemeClr val="dk1"/>
                </a:solidFill>
                <a:latin typeface="Calibri"/>
                <a:ea typeface="Calibri"/>
                <a:cs typeface="Calibri"/>
                <a:sym typeface="Calibri"/>
              </a:rPr>
              <a:t>Better preparedness for extreme weather events.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Protected Ecosystems: </a:t>
            </a:r>
            <a:r>
              <a:rPr lang="en-US" sz="1400">
                <a:solidFill>
                  <a:schemeClr val="dk1"/>
                </a:solidFill>
                <a:latin typeface="Calibri"/>
                <a:ea typeface="Calibri"/>
                <a:cs typeface="Calibri"/>
                <a:sym typeface="Calibri"/>
              </a:rPr>
              <a:t>Mitigation of sea level rise impacts.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Informed Policy: </a:t>
            </a:r>
            <a:r>
              <a:rPr lang="en-US" sz="1400">
                <a:solidFill>
                  <a:schemeClr val="dk1"/>
                </a:solidFill>
                <a:latin typeface="Calibri"/>
                <a:ea typeface="Calibri"/>
                <a:cs typeface="Calibri"/>
                <a:sym typeface="Calibri"/>
              </a:rPr>
              <a:t>Data-driven climate action.</a:t>
            </a:r>
            <a:endParaRPr/>
          </a:p>
          <a:p>
            <a:pPr indent="0" lvl="0" marL="12065" marR="0" rtl="0" algn="l">
              <a:lnSpc>
                <a:spcPct val="100000"/>
              </a:lnSpc>
              <a:spcBef>
                <a:spcPts val="100"/>
              </a:spcBef>
              <a:spcAft>
                <a:spcPts val="0"/>
              </a:spcAft>
              <a:buNone/>
            </a:pPr>
            <a:r>
              <a:t/>
            </a:r>
            <a:endParaRPr b="1" sz="800">
              <a:solidFill>
                <a:schemeClr val="dk1"/>
              </a:solidFill>
              <a:latin typeface="Calibri"/>
              <a:ea typeface="Calibri"/>
              <a:cs typeface="Calibri"/>
              <a:sym typeface="Calibri"/>
            </a:endParaRPr>
          </a:p>
          <a:p>
            <a:pPr indent="0" lvl="0" marL="12065" marR="0" rtl="0" algn="l">
              <a:lnSpc>
                <a:spcPct val="100000"/>
              </a:lnSpc>
              <a:spcBef>
                <a:spcPts val="100"/>
              </a:spcBef>
              <a:spcAft>
                <a:spcPts val="0"/>
              </a:spcAft>
              <a:buNone/>
            </a:pPr>
            <a:r>
              <a:rPr b="1" lang="en-US" sz="1600">
                <a:solidFill>
                  <a:schemeClr val="dk1"/>
                </a:solidFill>
                <a:latin typeface="Calibri"/>
                <a:ea typeface="Calibri"/>
                <a:cs typeface="Calibri"/>
                <a:sym typeface="Calibri"/>
              </a:rPr>
              <a:t>Future Work:</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Advanced Analytics: </a:t>
            </a:r>
            <a:r>
              <a:rPr lang="en-US" sz="1400">
                <a:solidFill>
                  <a:schemeClr val="dk1"/>
                </a:solidFill>
                <a:latin typeface="Calibri"/>
                <a:ea typeface="Calibri"/>
                <a:cs typeface="Calibri"/>
                <a:sym typeface="Calibri"/>
              </a:rPr>
              <a:t>Use machine learning for climate predictions.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Broader Data: </a:t>
            </a:r>
            <a:r>
              <a:rPr lang="en-US" sz="1400">
                <a:solidFill>
                  <a:schemeClr val="dk1"/>
                </a:solidFill>
                <a:latin typeface="Calibri"/>
                <a:ea typeface="Calibri"/>
                <a:cs typeface="Calibri"/>
                <a:sym typeface="Calibri"/>
              </a:rPr>
              <a:t>Incorporate diverse data sources.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Collaboration: </a:t>
            </a:r>
            <a:r>
              <a:rPr lang="en-US" sz="1400">
                <a:solidFill>
                  <a:schemeClr val="dk1"/>
                </a:solidFill>
                <a:latin typeface="Calibri"/>
                <a:ea typeface="Calibri"/>
                <a:cs typeface="Calibri"/>
                <a:sym typeface="Calibri"/>
              </a:rPr>
              <a:t>Partner with global organizations.</a:t>
            </a:r>
            <a:endParaRPr/>
          </a:p>
          <a:p>
            <a:pPr indent="-367030" lvl="0" marL="379095" marR="0" rtl="0" algn="l">
              <a:lnSpc>
                <a:spcPct val="100000"/>
              </a:lnSpc>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Public Engagement: </a:t>
            </a:r>
            <a:r>
              <a:rPr lang="en-US" sz="1400">
                <a:solidFill>
                  <a:schemeClr val="dk1"/>
                </a:solidFill>
                <a:latin typeface="Calibri"/>
                <a:ea typeface="Calibri"/>
                <a:cs typeface="Calibri"/>
                <a:sym typeface="Calibri"/>
              </a:rPr>
              <a:t>Raise awareness and involvement in climate initiatives.</a:t>
            </a:r>
            <a:endParaRPr/>
          </a:p>
        </p:txBody>
      </p:sp>
      <p:grpSp>
        <p:nvGrpSpPr>
          <p:cNvPr id="166" name="Google Shape;166;p11"/>
          <p:cNvGrpSpPr/>
          <p:nvPr/>
        </p:nvGrpSpPr>
        <p:grpSpPr>
          <a:xfrm>
            <a:off x="0" y="4976700"/>
            <a:ext cx="9144000" cy="167005"/>
            <a:chOff x="0" y="4976700"/>
            <a:chExt cx="9144000" cy="167005"/>
          </a:xfrm>
        </p:grpSpPr>
        <p:sp>
          <p:nvSpPr>
            <p:cNvPr id="167" name="Google Shape;167;p11"/>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11"/>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9" name="Google Shape;169;p11"/>
          <p:cNvGrpSpPr/>
          <p:nvPr/>
        </p:nvGrpSpPr>
        <p:grpSpPr>
          <a:xfrm>
            <a:off x="6818818" y="232881"/>
            <a:ext cx="1916967" cy="4388010"/>
            <a:chOff x="7010399" y="265562"/>
            <a:chExt cx="1916967" cy="4388010"/>
          </a:xfrm>
        </p:grpSpPr>
        <p:pic>
          <p:nvPicPr>
            <p:cNvPr id="170" name="Google Shape;170;p11"/>
            <p:cNvPicPr preferRelativeResize="0"/>
            <p:nvPr/>
          </p:nvPicPr>
          <p:blipFill rotWithShape="1">
            <a:blip r:embed="rId3">
              <a:alphaModFix/>
            </a:blip>
            <a:srcRect b="0" l="0" r="0" t="0"/>
            <a:stretch/>
          </p:blipFill>
          <p:spPr>
            <a:xfrm>
              <a:off x="7010399" y="265562"/>
              <a:ext cx="1626811" cy="1535233"/>
            </a:xfrm>
            <a:prstGeom prst="rect">
              <a:avLst/>
            </a:prstGeom>
            <a:noFill/>
            <a:ln>
              <a:noFill/>
            </a:ln>
          </p:spPr>
        </p:pic>
        <p:pic>
          <p:nvPicPr>
            <p:cNvPr id="171" name="Google Shape;171;p11"/>
            <p:cNvPicPr preferRelativeResize="0"/>
            <p:nvPr/>
          </p:nvPicPr>
          <p:blipFill rotWithShape="1">
            <a:blip r:embed="rId4">
              <a:alphaModFix/>
            </a:blip>
            <a:srcRect b="0" l="0" r="0" t="0"/>
            <a:stretch/>
          </p:blipFill>
          <p:spPr>
            <a:xfrm>
              <a:off x="7010399" y="1919813"/>
              <a:ext cx="1626812" cy="1261537"/>
            </a:xfrm>
            <a:prstGeom prst="rect">
              <a:avLst/>
            </a:prstGeom>
            <a:noFill/>
            <a:ln>
              <a:noFill/>
            </a:ln>
          </p:spPr>
        </p:pic>
        <p:pic>
          <p:nvPicPr>
            <p:cNvPr id="172" name="Google Shape;172;p11"/>
            <p:cNvPicPr preferRelativeResize="0"/>
            <p:nvPr/>
          </p:nvPicPr>
          <p:blipFill rotWithShape="1">
            <a:blip r:embed="rId5">
              <a:alphaModFix/>
            </a:blip>
            <a:srcRect b="0" l="0" r="0" t="0"/>
            <a:stretch/>
          </p:blipFill>
          <p:spPr>
            <a:xfrm>
              <a:off x="7162800" y="3300368"/>
              <a:ext cx="1764566" cy="135320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1000"/>
                                        <p:tgtEl>
                                          <p:spTgt spid="164"/>
                                        </p:tgtEl>
                                        <p:attrNameLst>
                                          <p:attrName>ppt_w</p:attrName>
                                        </p:attrNameLst>
                                      </p:cBhvr>
                                      <p:tavLst>
                                        <p:tav fmla="" tm="0">
                                          <p:val>
                                            <p:strVal val="0"/>
                                          </p:val>
                                        </p:tav>
                                        <p:tav fmla="" tm="100000">
                                          <p:val>
                                            <p:strVal val="#ppt_w"/>
                                          </p:val>
                                        </p:tav>
                                      </p:tavLst>
                                    </p:anim>
                                    <p:anim calcmode="lin" valueType="num">
                                      <p:cBhvr additive="base">
                                        <p:cTn dur="1000"/>
                                        <p:tgtEl>
                                          <p:spTgt spid="1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1000"/>
                                        <p:tgtEl>
                                          <p:spTgt spid="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1000"/>
                                        <p:tgtEl>
                                          <p:spTgt spid="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Effect filter="fade" transition="in">
                                      <p:cBhvr>
                                        <p:cTn dur="1000"/>
                                        <p:tgtEl>
                                          <p:spTgt spid="1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Effect filter="fade" transition="in">
                                      <p:cBhvr>
                                        <p:cTn dur="1000"/>
                                        <p:tgtEl>
                                          <p:spTgt spid="1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Effect filter="fade" transition="in">
                                      <p:cBhvr>
                                        <p:cTn dur="1000"/>
                                        <p:tgtEl>
                                          <p:spTgt spid="1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animEffect filter="fade" transition="in">
                                      <p:cBhvr>
                                        <p:cTn dur="1000"/>
                                        <p:tgtEl>
                                          <p:spTgt spid="1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animEffect filter="fade" transition="in">
                                      <p:cBhvr>
                                        <p:cTn dur="1000"/>
                                        <p:tgtEl>
                                          <p:spTgt spid="1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7" st="7"/>
                                            </p:txEl>
                                          </p:spTgt>
                                        </p:tgtEl>
                                        <p:attrNameLst>
                                          <p:attrName>style.visibility</p:attrName>
                                        </p:attrNameLst>
                                      </p:cBhvr>
                                      <p:to>
                                        <p:strVal val="visible"/>
                                      </p:to>
                                    </p:set>
                                    <p:animEffect filter="fade" transition="in">
                                      <p:cBhvr>
                                        <p:cTn dur="1000"/>
                                        <p:tgtEl>
                                          <p:spTgt spid="1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8" st="8"/>
                                            </p:txEl>
                                          </p:spTgt>
                                        </p:tgtEl>
                                        <p:attrNameLst>
                                          <p:attrName>style.visibility</p:attrName>
                                        </p:attrNameLst>
                                      </p:cBhvr>
                                      <p:to>
                                        <p:strVal val="visible"/>
                                      </p:to>
                                    </p:set>
                                    <p:animEffect filter="fade" transition="in">
                                      <p:cBhvr>
                                        <p:cTn dur="1000"/>
                                        <p:tgtEl>
                                          <p:spTgt spid="1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9" st="9"/>
                                            </p:txEl>
                                          </p:spTgt>
                                        </p:tgtEl>
                                        <p:attrNameLst>
                                          <p:attrName>style.visibility</p:attrName>
                                        </p:attrNameLst>
                                      </p:cBhvr>
                                      <p:to>
                                        <p:strVal val="visible"/>
                                      </p:to>
                                    </p:set>
                                    <p:animEffect filter="fade" transition="in">
                                      <p:cBhvr>
                                        <p:cTn dur="1000"/>
                                        <p:tgtEl>
                                          <p:spTgt spid="1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0" st="10"/>
                                            </p:txEl>
                                          </p:spTgt>
                                        </p:tgtEl>
                                        <p:attrNameLst>
                                          <p:attrName>style.visibility</p:attrName>
                                        </p:attrNameLst>
                                      </p:cBhvr>
                                      <p:to>
                                        <p:strVal val="visible"/>
                                      </p:to>
                                    </p:set>
                                    <p:animEffect filter="fade" transition="in">
                                      <p:cBhvr>
                                        <p:cTn dur="1000"/>
                                        <p:tgtEl>
                                          <p:spTgt spid="1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1" st="11"/>
                                            </p:txEl>
                                          </p:spTgt>
                                        </p:tgtEl>
                                        <p:attrNameLst>
                                          <p:attrName>style.visibility</p:attrName>
                                        </p:attrNameLst>
                                      </p:cBhvr>
                                      <p:to>
                                        <p:strVal val="visible"/>
                                      </p:to>
                                    </p:set>
                                    <p:animEffect filter="fade" transition="in">
                                      <p:cBhvr>
                                        <p:cTn dur="1000"/>
                                        <p:tgtEl>
                                          <p:spTgt spid="16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2" st="12"/>
                                            </p:txEl>
                                          </p:spTgt>
                                        </p:tgtEl>
                                        <p:attrNameLst>
                                          <p:attrName>style.visibility</p:attrName>
                                        </p:attrNameLst>
                                      </p:cBhvr>
                                      <p:to>
                                        <p:strVal val="visible"/>
                                      </p:to>
                                    </p:set>
                                    <p:animEffect filter="fade" transition="in">
                                      <p:cBhvr>
                                        <p:cTn dur="1000"/>
                                        <p:tgtEl>
                                          <p:spTgt spid="16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3" st="13"/>
                                            </p:txEl>
                                          </p:spTgt>
                                        </p:tgtEl>
                                        <p:attrNameLst>
                                          <p:attrName>style.visibility</p:attrName>
                                        </p:attrNameLst>
                                      </p:cBhvr>
                                      <p:to>
                                        <p:strVal val="visible"/>
                                      </p:to>
                                    </p:set>
                                    <p:animEffect filter="fade" transition="in">
                                      <p:cBhvr>
                                        <p:cTn dur="1000"/>
                                        <p:tgtEl>
                                          <p:spTgt spid="16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4" st="14"/>
                                            </p:txEl>
                                          </p:spTgt>
                                        </p:tgtEl>
                                        <p:attrNameLst>
                                          <p:attrName>style.visibility</p:attrName>
                                        </p:attrNameLst>
                                      </p:cBhvr>
                                      <p:to>
                                        <p:strVal val="visible"/>
                                      </p:to>
                                    </p:set>
                                    <p:animEffect filter="fade" transition="in">
                                      <p:cBhvr>
                                        <p:cTn dur="1000"/>
                                        <p:tgtEl>
                                          <p:spTgt spid="16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5" st="15"/>
                                            </p:txEl>
                                          </p:spTgt>
                                        </p:tgtEl>
                                        <p:attrNameLst>
                                          <p:attrName>style.visibility</p:attrName>
                                        </p:attrNameLst>
                                      </p:cBhvr>
                                      <p:to>
                                        <p:strVal val="visible"/>
                                      </p:to>
                                    </p:set>
                                    <p:animEffect filter="fade" transition="in">
                                      <p:cBhvr>
                                        <p:cTn dur="1000"/>
                                        <p:tgtEl>
                                          <p:spTgt spid="16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6" st="16"/>
                                            </p:txEl>
                                          </p:spTgt>
                                        </p:tgtEl>
                                        <p:attrNameLst>
                                          <p:attrName>style.visibility</p:attrName>
                                        </p:attrNameLst>
                                      </p:cBhvr>
                                      <p:to>
                                        <p:strVal val="visible"/>
                                      </p:to>
                                    </p:set>
                                    <p:animEffect filter="fade" transition="in">
                                      <p:cBhvr>
                                        <p:cTn dur="1000"/>
                                        <p:tgtEl>
                                          <p:spTgt spid="165">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1000"/>
                                        <p:tgtEl>
                                          <p:spTgt spid="169"/>
                                        </p:tgtEl>
                                        <p:attrNameLst>
                                          <p:attrName>ppt_w</p:attrName>
                                        </p:attrNameLst>
                                      </p:cBhvr>
                                      <p:tavLst>
                                        <p:tav fmla="" tm="0">
                                          <p:val>
                                            <p:strVal val="0"/>
                                          </p:val>
                                        </p:tav>
                                        <p:tav fmla="" tm="100000">
                                          <p:val>
                                            <p:strVal val="#ppt_w"/>
                                          </p:val>
                                        </p:tav>
                                      </p:tavLst>
                                    </p:anim>
                                    <p:anim calcmode="lin" valueType="num">
                                      <p:cBhvr additive="base">
                                        <p:cTn dur="1000"/>
                                        <p:tgtEl>
                                          <p:spTgt spid="16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6" name="Shape 176"/>
        <p:cNvGrpSpPr/>
        <p:nvPr/>
      </p:nvGrpSpPr>
      <p:grpSpPr>
        <a:xfrm>
          <a:off x="0" y="0"/>
          <a:ext cx="0" cy="0"/>
          <a:chOff x="0" y="0"/>
          <a:chExt cx="0" cy="0"/>
        </a:xfrm>
      </p:grpSpPr>
      <p:sp>
        <p:nvSpPr>
          <p:cNvPr id="177" name="Google Shape;177;p12"/>
          <p:cNvSpPr txBox="1"/>
          <p:nvPr/>
        </p:nvSpPr>
        <p:spPr>
          <a:xfrm>
            <a:off x="208675" y="232905"/>
            <a:ext cx="120523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Verdana"/>
                <a:ea typeface="Verdana"/>
                <a:cs typeface="Verdana"/>
                <a:sym typeface="Verdana"/>
              </a:rPr>
              <a:t>References</a:t>
            </a:r>
            <a:endParaRPr sz="1800">
              <a:solidFill>
                <a:schemeClr val="dk1"/>
              </a:solidFill>
              <a:latin typeface="Verdana"/>
              <a:ea typeface="Verdana"/>
              <a:cs typeface="Verdana"/>
              <a:sym typeface="Verdana"/>
            </a:endParaRPr>
          </a:p>
        </p:txBody>
      </p:sp>
      <p:sp>
        <p:nvSpPr>
          <p:cNvPr id="178" name="Google Shape;178;p12"/>
          <p:cNvSpPr txBox="1"/>
          <p:nvPr/>
        </p:nvSpPr>
        <p:spPr>
          <a:xfrm>
            <a:off x="457200" y="590550"/>
            <a:ext cx="8229600" cy="4188326"/>
          </a:xfrm>
          <a:prstGeom prst="rect">
            <a:avLst/>
          </a:prstGeom>
          <a:noFill/>
          <a:ln>
            <a:noFill/>
          </a:ln>
        </p:spPr>
        <p:txBody>
          <a:bodyPr anchorCtr="0" anchor="t" bIns="0" lIns="0" spcFirstLastPara="1" rIns="0" wrap="square" tIns="12700">
            <a:sp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Data Sources: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Meteorological Agencies: </a:t>
            </a:r>
            <a:r>
              <a:rPr lang="en-US" sz="1400">
                <a:solidFill>
                  <a:schemeClr val="dk1"/>
                </a:solidFill>
                <a:latin typeface="Calibri"/>
                <a:ea typeface="Calibri"/>
                <a:cs typeface="Calibri"/>
                <a:sym typeface="Calibri"/>
              </a:rPr>
              <a:t>Climate metrics and weather data.</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Environmental Organizations: </a:t>
            </a:r>
            <a:r>
              <a:rPr lang="en-US" sz="1400">
                <a:solidFill>
                  <a:schemeClr val="dk1"/>
                </a:solidFill>
                <a:latin typeface="Calibri"/>
                <a:ea typeface="Calibri"/>
                <a:cs typeface="Calibri"/>
                <a:sym typeface="Calibri"/>
              </a:rPr>
              <a:t>CO2 levels and biodiversity data.</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Government Reports: </a:t>
            </a:r>
            <a:r>
              <a:rPr lang="en-US" sz="1400">
                <a:solidFill>
                  <a:schemeClr val="dk1"/>
                </a:solidFill>
                <a:latin typeface="Calibri"/>
                <a:ea typeface="Calibri"/>
                <a:cs typeface="Calibri"/>
                <a:sym typeface="Calibri"/>
              </a:rPr>
              <a:t>Official climate statistics.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Research Institutions: </a:t>
            </a:r>
            <a:r>
              <a:rPr lang="en-US" sz="1400">
                <a:solidFill>
                  <a:schemeClr val="dk1"/>
                </a:solidFill>
                <a:latin typeface="Calibri"/>
                <a:ea typeface="Calibri"/>
                <a:cs typeface="Calibri"/>
                <a:sym typeface="Calibri"/>
              </a:rPr>
              <a:t>Academic climate studies.</a:t>
            </a:r>
            <a:endParaRPr/>
          </a:p>
          <a:p>
            <a:pPr indent="0" lvl="0" marL="0" marR="0" rtl="0" algn="l">
              <a:spcBef>
                <a:spcPts val="100"/>
              </a:spcBef>
              <a:spcAft>
                <a:spcPts val="0"/>
              </a:spcAft>
              <a:buNone/>
            </a:pPr>
            <a:r>
              <a:t/>
            </a:r>
            <a:endParaRPr b="1" sz="800">
              <a:solidFill>
                <a:schemeClr val="dk1"/>
              </a:solidFill>
              <a:latin typeface="Calibri"/>
              <a:ea typeface="Calibri"/>
              <a:cs typeface="Calibri"/>
              <a:sym typeface="Calibri"/>
            </a:endParaRPr>
          </a:p>
          <a:p>
            <a:pPr indent="0" lvl="0" marL="0" marR="0" rtl="0" algn="l">
              <a:spcBef>
                <a:spcPts val="100"/>
              </a:spcBef>
              <a:spcAft>
                <a:spcPts val="0"/>
              </a:spcAft>
              <a:buNone/>
            </a:pPr>
            <a:r>
              <a:rPr b="1" lang="en-US" sz="1600">
                <a:solidFill>
                  <a:schemeClr val="dk1"/>
                </a:solidFill>
                <a:latin typeface="Calibri"/>
                <a:ea typeface="Calibri"/>
                <a:cs typeface="Calibri"/>
                <a:sym typeface="Calibri"/>
              </a:rPr>
              <a:t>Tools and Software Used:</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Python &amp; Pandas: </a:t>
            </a:r>
            <a:r>
              <a:rPr lang="en-US" sz="1400">
                <a:solidFill>
                  <a:schemeClr val="dk1"/>
                </a:solidFill>
                <a:latin typeface="Calibri"/>
                <a:ea typeface="Calibri"/>
                <a:cs typeface="Calibri"/>
                <a:sym typeface="Calibri"/>
              </a:rPr>
              <a:t>Data manipulation and analysis.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Power BI:</a:t>
            </a:r>
            <a:r>
              <a:rPr lang="en-US" sz="1400">
                <a:solidFill>
                  <a:schemeClr val="dk1"/>
                </a:solidFill>
                <a:latin typeface="Calibri"/>
                <a:ea typeface="Calibri"/>
                <a:cs typeface="Calibri"/>
                <a:sym typeface="Calibri"/>
              </a:rPr>
              <a:t> Interactive dashboards and visualizations.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Seaborn &amp; Matplotlib:</a:t>
            </a:r>
            <a:r>
              <a:rPr b="1" lang="en-US" sz="16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Detailed data visualization.</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Machine Learning Algorithms: </a:t>
            </a:r>
            <a:r>
              <a:rPr lang="en-US" sz="1400">
                <a:solidFill>
                  <a:schemeClr val="dk1"/>
                </a:solidFill>
                <a:latin typeface="Calibri"/>
                <a:ea typeface="Calibri"/>
                <a:cs typeface="Calibri"/>
                <a:sym typeface="Calibri"/>
              </a:rPr>
              <a:t>Predictive analysis and pattern recognition.</a:t>
            </a:r>
            <a:endParaRPr/>
          </a:p>
          <a:p>
            <a:pPr indent="0" lvl="0" marL="0" marR="0" rtl="0" algn="l">
              <a:spcBef>
                <a:spcPts val="10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100"/>
              </a:spcBef>
              <a:spcAft>
                <a:spcPts val="0"/>
              </a:spcAft>
              <a:buNone/>
            </a:pPr>
            <a:r>
              <a:rPr b="1" lang="en-US" sz="1600">
                <a:solidFill>
                  <a:schemeClr val="dk1"/>
                </a:solidFill>
                <a:latin typeface="Calibri"/>
                <a:ea typeface="Calibri"/>
                <a:cs typeface="Calibri"/>
                <a:sym typeface="Calibri"/>
              </a:rPr>
              <a:t>Additional References: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IPCC Reports: </a:t>
            </a:r>
            <a:r>
              <a:rPr lang="en-US" sz="1400">
                <a:solidFill>
                  <a:schemeClr val="dk1"/>
                </a:solidFill>
                <a:latin typeface="Calibri"/>
                <a:ea typeface="Calibri"/>
                <a:cs typeface="Calibri"/>
                <a:sym typeface="Calibri"/>
              </a:rPr>
              <a:t>Comprehensive climate change assessments.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NASA Climate Data: </a:t>
            </a:r>
            <a:r>
              <a:rPr lang="en-US" sz="1400">
                <a:solidFill>
                  <a:schemeClr val="dk1"/>
                </a:solidFill>
                <a:latin typeface="Calibri"/>
                <a:ea typeface="Calibri"/>
                <a:cs typeface="Calibri"/>
                <a:sym typeface="Calibri"/>
              </a:rPr>
              <a:t>Satellite observations and climate indicators.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UN Climate Change Resources: </a:t>
            </a:r>
            <a:r>
              <a:rPr lang="en-US" sz="1400">
                <a:solidFill>
                  <a:schemeClr val="dk1"/>
                </a:solidFill>
                <a:latin typeface="Calibri"/>
                <a:ea typeface="Calibri"/>
                <a:cs typeface="Calibri"/>
                <a:sym typeface="Calibri"/>
              </a:rPr>
              <a:t>Global climate policies and initiatives.</a:t>
            </a:r>
            <a:endParaRPr/>
          </a:p>
          <a:p>
            <a:pPr indent="-12065" lvl="0" marL="12065" marR="0" rtl="0" algn="l">
              <a:spcBef>
                <a:spcPts val="100"/>
              </a:spcBef>
              <a:spcAft>
                <a:spcPts val="0"/>
              </a:spcAft>
              <a:buClr>
                <a:schemeClr val="dk1"/>
              </a:buClr>
              <a:buSzPts val="1400"/>
              <a:buFont typeface="Calibri"/>
              <a:buChar char="●"/>
            </a:pPr>
            <a:r>
              <a:rPr b="1" lang="en-US" sz="1400">
                <a:solidFill>
                  <a:schemeClr val="dk1"/>
                </a:solidFill>
                <a:latin typeface="Calibri"/>
                <a:ea typeface="Calibri"/>
                <a:cs typeface="Calibri"/>
                <a:sym typeface="Calibri"/>
              </a:rPr>
              <a:t>Peer-Reviewed Journals: </a:t>
            </a:r>
            <a:r>
              <a:rPr lang="en-US" sz="1400">
                <a:solidFill>
                  <a:schemeClr val="dk1"/>
                </a:solidFill>
                <a:latin typeface="Calibri"/>
                <a:ea typeface="Calibri"/>
                <a:cs typeface="Calibri"/>
                <a:sym typeface="Calibri"/>
              </a:rPr>
              <a:t>Latest research on climate science.</a:t>
            </a:r>
            <a:endParaRPr/>
          </a:p>
          <a:p>
            <a:pPr indent="-252730" lvl="0" marL="379095" marR="0" rtl="0" algn="l">
              <a:lnSpc>
                <a:spcPct val="100000"/>
              </a:lnSpc>
              <a:spcBef>
                <a:spcPts val="0"/>
              </a:spcBef>
              <a:spcAft>
                <a:spcPts val="0"/>
              </a:spcAft>
              <a:buClr>
                <a:schemeClr val="dk1"/>
              </a:buClr>
              <a:buSzPts val="1800"/>
              <a:buFont typeface="Calibri"/>
              <a:buNone/>
            </a:pPr>
            <a:r>
              <a:t/>
            </a:r>
            <a:endParaRPr sz="1800">
              <a:solidFill>
                <a:schemeClr val="dk1"/>
              </a:solidFill>
              <a:latin typeface="Arial"/>
              <a:ea typeface="Arial"/>
              <a:cs typeface="Arial"/>
              <a:sym typeface="Arial"/>
            </a:endParaRPr>
          </a:p>
        </p:txBody>
      </p:sp>
      <p:grpSp>
        <p:nvGrpSpPr>
          <p:cNvPr id="179" name="Google Shape;179;p12"/>
          <p:cNvGrpSpPr/>
          <p:nvPr/>
        </p:nvGrpSpPr>
        <p:grpSpPr>
          <a:xfrm>
            <a:off x="0" y="4976700"/>
            <a:ext cx="9144000" cy="167005"/>
            <a:chOff x="0" y="4976700"/>
            <a:chExt cx="9144000" cy="167005"/>
          </a:xfrm>
        </p:grpSpPr>
        <p:sp>
          <p:nvSpPr>
            <p:cNvPr id="180" name="Google Shape;180;p12"/>
            <p:cNvSpPr/>
            <p:nvPr/>
          </p:nvSpPr>
          <p:spPr>
            <a:xfrm>
              <a:off x="0" y="4976700"/>
              <a:ext cx="9144000" cy="167005"/>
            </a:xfrm>
            <a:custGeom>
              <a:rect b="b" l="l" r="r" t="t"/>
              <a:pathLst>
                <a:path extrusionOk="0" h="167004" w="9144000">
                  <a:moveTo>
                    <a:pt x="9143999" y="166799"/>
                  </a:moveTo>
                  <a:lnTo>
                    <a:pt x="0" y="166799"/>
                  </a:lnTo>
                  <a:lnTo>
                    <a:pt x="0" y="0"/>
                  </a:lnTo>
                  <a:lnTo>
                    <a:pt x="9143999" y="0"/>
                  </a:lnTo>
                  <a:lnTo>
                    <a:pt x="9143999" y="166799"/>
                  </a:lnTo>
                  <a:close/>
                </a:path>
              </a:pathLst>
            </a:custGeom>
            <a:solidFill>
              <a:srgbClr val="06172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2"/>
            <p:cNvSpPr/>
            <p:nvPr/>
          </p:nvSpPr>
          <p:spPr>
            <a:xfrm>
              <a:off x="0" y="4976700"/>
              <a:ext cx="9144000" cy="167005"/>
            </a:xfrm>
            <a:custGeom>
              <a:rect b="b" l="l" r="r" t="t"/>
              <a:pathLst>
                <a:path extrusionOk="0" h="167004" w="9144000">
                  <a:moveTo>
                    <a:pt x="0" y="166799"/>
                  </a:moveTo>
                  <a:lnTo>
                    <a:pt x="9143999" y="166799"/>
                  </a:lnTo>
                  <a:lnTo>
                    <a:pt x="9143999" y="0"/>
                  </a:lnTo>
                  <a:lnTo>
                    <a:pt x="0" y="0"/>
                  </a:lnTo>
                  <a:lnTo>
                    <a:pt x="0" y="166799"/>
                  </a:lnTo>
                  <a:close/>
                </a:path>
              </a:pathLst>
            </a:custGeom>
            <a:noFill/>
            <a:ln cap="flat" cmpd="sng" w="9525">
              <a:solidFill>
                <a:srgbClr val="06172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182" name="Google Shape;182;p12"/>
          <p:cNvPicPr preferRelativeResize="0"/>
          <p:nvPr/>
        </p:nvPicPr>
        <p:blipFill rotWithShape="1">
          <a:blip r:embed="rId3">
            <a:alphaModFix/>
          </a:blip>
          <a:srcRect b="0" l="0" r="0" t="0"/>
          <a:stretch/>
        </p:blipFill>
        <p:spPr>
          <a:xfrm>
            <a:off x="6408601" y="971550"/>
            <a:ext cx="2354399" cy="3276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1000"/>
                                        <p:tgtEl>
                                          <p:spTgt spid="177"/>
                                        </p:tgtEl>
                                        <p:attrNameLst>
                                          <p:attrName>ppt_w</p:attrName>
                                        </p:attrNameLst>
                                      </p:cBhvr>
                                      <p:tavLst>
                                        <p:tav fmla="" tm="0">
                                          <p:val>
                                            <p:strVal val="0"/>
                                          </p:val>
                                        </p:tav>
                                        <p:tav fmla="" tm="100000">
                                          <p:val>
                                            <p:strVal val="#ppt_w"/>
                                          </p:val>
                                        </p:tav>
                                      </p:tavLst>
                                    </p:anim>
                                    <p:anim calcmode="lin" valueType="num">
                                      <p:cBhvr additive="base">
                                        <p:cTn dur="1000"/>
                                        <p:tgtEl>
                                          <p:spTgt spid="1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1000"/>
                                        <p:tgtEl>
                                          <p:spTgt spid="1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Effect filter="fade" transition="in">
                                      <p:cBhvr>
                                        <p:cTn dur="1000"/>
                                        <p:tgtEl>
                                          <p:spTgt spid="1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animEffect filter="fade" transition="in">
                                      <p:cBhvr>
                                        <p:cTn dur="1000"/>
                                        <p:tgtEl>
                                          <p:spTgt spid="1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animEffect filter="fade" transition="in">
                                      <p:cBhvr>
                                        <p:cTn dur="1000"/>
                                        <p:tgtEl>
                                          <p:spTgt spid="1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animEffect filter="fade" transition="in">
                                      <p:cBhvr>
                                        <p:cTn dur="1000"/>
                                        <p:tgtEl>
                                          <p:spTgt spid="1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animEffect filter="fade" transition="in">
                                      <p:cBhvr>
                                        <p:cTn dur="1000"/>
                                        <p:tgtEl>
                                          <p:spTgt spid="1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animEffect filter="fade" transition="in">
                                      <p:cBhvr>
                                        <p:cTn dur="1000"/>
                                        <p:tgtEl>
                                          <p:spTgt spid="1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7" st="7"/>
                                            </p:txEl>
                                          </p:spTgt>
                                        </p:tgtEl>
                                        <p:attrNameLst>
                                          <p:attrName>style.visibility</p:attrName>
                                        </p:attrNameLst>
                                      </p:cBhvr>
                                      <p:to>
                                        <p:strVal val="visible"/>
                                      </p:to>
                                    </p:set>
                                    <p:animEffect filter="fade" transition="in">
                                      <p:cBhvr>
                                        <p:cTn dur="1000"/>
                                        <p:tgtEl>
                                          <p:spTgt spid="1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8" st="8"/>
                                            </p:txEl>
                                          </p:spTgt>
                                        </p:tgtEl>
                                        <p:attrNameLst>
                                          <p:attrName>style.visibility</p:attrName>
                                        </p:attrNameLst>
                                      </p:cBhvr>
                                      <p:to>
                                        <p:strVal val="visible"/>
                                      </p:to>
                                    </p:set>
                                    <p:animEffect filter="fade" transition="in">
                                      <p:cBhvr>
                                        <p:cTn dur="1000"/>
                                        <p:tgtEl>
                                          <p:spTgt spid="1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9" st="9"/>
                                            </p:txEl>
                                          </p:spTgt>
                                        </p:tgtEl>
                                        <p:attrNameLst>
                                          <p:attrName>style.visibility</p:attrName>
                                        </p:attrNameLst>
                                      </p:cBhvr>
                                      <p:to>
                                        <p:strVal val="visible"/>
                                      </p:to>
                                    </p:set>
                                    <p:animEffect filter="fade" transition="in">
                                      <p:cBhvr>
                                        <p:cTn dur="1000"/>
                                        <p:tgtEl>
                                          <p:spTgt spid="17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0" st="10"/>
                                            </p:txEl>
                                          </p:spTgt>
                                        </p:tgtEl>
                                        <p:attrNameLst>
                                          <p:attrName>style.visibility</p:attrName>
                                        </p:attrNameLst>
                                      </p:cBhvr>
                                      <p:to>
                                        <p:strVal val="visible"/>
                                      </p:to>
                                    </p:set>
                                    <p:animEffect filter="fade" transition="in">
                                      <p:cBhvr>
                                        <p:cTn dur="1000"/>
                                        <p:tgtEl>
                                          <p:spTgt spid="17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1" st="11"/>
                                            </p:txEl>
                                          </p:spTgt>
                                        </p:tgtEl>
                                        <p:attrNameLst>
                                          <p:attrName>style.visibility</p:attrName>
                                        </p:attrNameLst>
                                      </p:cBhvr>
                                      <p:to>
                                        <p:strVal val="visible"/>
                                      </p:to>
                                    </p:set>
                                    <p:animEffect filter="fade" transition="in">
                                      <p:cBhvr>
                                        <p:cTn dur="1000"/>
                                        <p:tgtEl>
                                          <p:spTgt spid="17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2" st="12"/>
                                            </p:txEl>
                                          </p:spTgt>
                                        </p:tgtEl>
                                        <p:attrNameLst>
                                          <p:attrName>style.visibility</p:attrName>
                                        </p:attrNameLst>
                                      </p:cBhvr>
                                      <p:to>
                                        <p:strVal val="visible"/>
                                      </p:to>
                                    </p:set>
                                    <p:animEffect filter="fade" transition="in">
                                      <p:cBhvr>
                                        <p:cTn dur="1000"/>
                                        <p:tgtEl>
                                          <p:spTgt spid="17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3" st="13"/>
                                            </p:txEl>
                                          </p:spTgt>
                                        </p:tgtEl>
                                        <p:attrNameLst>
                                          <p:attrName>style.visibility</p:attrName>
                                        </p:attrNameLst>
                                      </p:cBhvr>
                                      <p:to>
                                        <p:strVal val="visible"/>
                                      </p:to>
                                    </p:set>
                                    <p:animEffect filter="fade" transition="in">
                                      <p:cBhvr>
                                        <p:cTn dur="1000"/>
                                        <p:tgtEl>
                                          <p:spTgt spid="17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4" st="14"/>
                                            </p:txEl>
                                          </p:spTgt>
                                        </p:tgtEl>
                                        <p:attrNameLst>
                                          <p:attrName>style.visibility</p:attrName>
                                        </p:attrNameLst>
                                      </p:cBhvr>
                                      <p:to>
                                        <p:strVal val="visible"/>
                                      </p:to>
                                    </p:set>
                                    <p:animEffect filter="fade" transition="in">
                                      <p:cBhvr>
                                        <p:cTn dur="1000"/>
                                        <p:tgtEl>
                                          <p:spTgt spid="17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5" st="15"/>
                                            </p:txEl>
                                          </p:spTgt>
                                        </p:tgtEl>
                                        <p:attrNameLst>
                                          <p:attrName>style.visibility</p:attrName>
                                        </p:attrNameLst>
                                      </p:cBhvr>
                                      <p:to>
                                        <p:strVal val="visible"/>
                                      </p:to>
                                    </p:set>
                                    <p:animEffect filter="fade" transition="in">
                                      <p:cBhvr>
                                        <p:cTn dur="1000"/>
                                        <p:tgtEl>
                                          <p:spTgt spid="17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6" st="16"/>
                                            </p:txEl>
                                          </p:spTgt>
                                        </p:tgtEl>
                                        <p:attrNameLst>
                                          <p:attrName>style.visibility</p:attrName>
                                        </p:attrNameLst>
                                      </p:cBhvr>
                                      <p:to>
                                        <p:strVal val="visible"/>
                                      </p:to>
                                    </p:set>
                                    <p:animEffect filter="fade" transition="in">
                                      <p:cBhvr>
                                        <p:cTn dur="1000"/>
                                        <p:tgtEl>
                                          <p:spTgt spid="178">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7" st="17"/>
                                            </p:txEl>
                                          </p:spTgt>
                                        </p:tgtEl>
                                        <p:attrNameLst>
                                          <p:attrName>style.visibility</p:attrName>
                                        </p:attrNameLst>
                                      </p:cBhvr>
                                      <p:to>
                                        <p:strVal val="visible"/>
                                      </p:to>
                                    </p:set>
                                    <p:animEffect filter="fade" transition="in">
                                      <p:cBhvr>
                                        <p:cTn dur="1000"/>
                                        <p:tgtEl>
                                          <p:spTgt spid="178">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1000"/>
                                        <p:tgtEl>
                                          <p:spTgt spid="182"/>
                                        </p:tgtEl>
                                        <p:attrNameLst>
                                          <p:attrName>ppt_w</p:attrName>
                                        </p:attrNameLst>
                                      </p:cBhvr>
                                      <p:tavLst>
                                        <p:tav fmla="" tm="0">
                                          <p:val>
                                            <p:strVal val="0"/>
                                          </p:val>
                                        </p:tav>
                                        <p:tav fmla="" tm="100000">
                                          <p:val>
                                            <p:strVal val="#ppt_w"/>
                                          </p:val>
                                        </p:tav>
                                      </p:tavLst>
                                    </p:anim>
                                    <p:anim calcmode="lin" valueType="num">
                                      <p:cBhvr additive="base">
                                        <p:cTn dur="1000"/>
                                        <p:tgtEl>
                                          <p:spTgt spid="1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2024-07-27T13:50:41Z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2024-07-27T00:00:00Z</vt:filetime>
  </property>
  <property fmtid="{D5CDD505-2E9C-101B-9397-08002B2CF9AE}" pid="3" name="Creator">
    <vt:lpwstr>PDFium</vt:lpwstr>
  </property>
  <property fmtid="{D5CDD505-2E9C-101B-9397-08002B2CF9AE}" pid="4" name="LastSaved">
    <vt:filetime>2024-07-27T00:00:00Z</vt:filetime>
  </property>
</Properties>
</file>