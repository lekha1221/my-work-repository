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8C0B0-15AF-5348-906B-EC4CEC59B320}" v="1" dt="2025-09-05T11:26:53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3"/>
  </p:normalViewPr>
  <p:slideViewPr>
    <p:cSldViewPr snapToGrid="0" snapToObjects="1">
      <p:cViewPr varScale="1">
        <p:scale>
          <a:sx n="128" d="100"/>
          <a:sy n="128" d="100"/>
        </p:scale>
        <p:origin x="13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Nigam" userId="53da91a1-091e-4e51-aa22-f3cb94840b64" providerId="ADAL" clId="{8A865DCA-6EDE-5467-81F3-7E6D6920FAA2}"/>
    <pc:docChg chg="custSel modSld">
      <pc:chgData name="Lekha Nigam" userId="53da91a1-091e-4e51-aa22-f3cb94840b64" providerId="ADAL" clId="{8A865DCA-6EDE-5467-81F3-7E6D6920FAA2}" dt="2025-09-05T11:27:09.485" v="3" actId="1035"/>
      <pc:docMkLst>
        <pc:docMk/>
      </pc:docMkLst>
      <pc:sldChg chg="modSp mod">
        <pc:chgData name="Lekha Nigam" userId="53da91a1-091e-4e51-aa22-f3cb94840b64" providerId="ADAL" clId="{8A865DCA-6EDE-5467-81F3-7E6D6920FAA2}" dt="2025-09-05T11:26:53.775" v="0" actId="27636"/>
        <pc:sldMkLst>
          <pc:docMk/>
          <pc:sldMk cId="0" sldId="259"/>
        </pc:sldMkLst>
        <pc:spChg chg="mod">
          <ac:chgData name="Lekha Nigam" userId="53da91a1-091e-4e51-aa22-f3cb94840b64" providerId="ADAL" clId="{8A865DCA-6EDE-5467-81F3-7E6D6920FAA2}" dt="2025-09-05T11:26:53.775" v="0" actId="27636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Lekha Nigam" userId="53da91a1-091e-4e51-aa22-f3cb94840b64" providerId="ADAL" clId="{8A865DCA-6EDE-5467-81F3-7E6D6920FAA2}" dt="2025-09-05T11:26:53.782" v="1" actId="27636"/>
        <pc:sldMkLst>
          <pc:docMk/>
          <pc:sldMk cId="0" sldId="260"/>
        </pc:sldMkLst>
        <pc:spChg chg="mod">
          <ac:chgData name="Lekha Nigam" userId="53da91a1-091e-4e51-aa22-f3cb94840b64" providerId="ADAL" clId="{8A865DCA-6EDE-5467-81F3-7E6D6920FAA2}" dt="2025-09-05T11:26:53.782" v="1" actId="2763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Lekha Nigam" userId="53da91a1-091e-4e51-aa22-f3cb94840b64" providerId="ADAL" clId="{8A865DCA-6EDE-5467-81F3-7E6D6920FAA2}" dt="2025-09-05T11:26:53.786" v="2" actId="27636"/>
        <pc:sldMkLst>
          <pc:docMk/>
          <pc:sldMk cId="0" sldId="261"/>
        </pc:sldMkLst>
        <pc:spChg chg="mod">
          <ac:chgData name="Lekha Nigam" userId="53da91a1-091e-4e51-aa22-f3cb94840b64" providerId="ADAL" clId="{8A865DCA-6EDE-5467-81F3-7E6D6920FAA2}" dt="2025-09-05T11:26:53.786" v="2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Lekha Nigam" userId="53da91a1-091e-4e51-aa22-f3cb94840b64" providerId="ADAL" clId="{8A865DCA-6EDE-5467-81F3-7E6D6920FAA2}" dt="2025-09-05T11:27:09.485" v="3" actId="1035"/>
        <pc:sldMkLst>
          <pc:docMk/>
          <pc:sldMk cId="0" sldId="262"/>
        </pc:sldMkLst>
        <pc:spChg chg="mod">
          <ac:chgData name="Lekha Nigam" userId="53da91a1-091e-4e51-aa22-f3cb94840b64" providerId="ADAL" clId="{8A865DCA-6EDE-5467-81F3-7E6D6920FAA2}" dt="2025-09-05T11:27:09.485" v="3" actId="1035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ASBL Loft – Buyer Targeting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will buy now, with which offers, and what to do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Closers skew 36–45, male‑leaning, high digital engagement, price‑sensitive.</a:t>
            </a:r>
          </a:p>
          <a:p>
            <a:r>
              <a:rPr sz="1800" dirty="0"/>
              <a:t>Loan‑linked offers dominate: BHFL_80 and </a:t>
            </a:r>
            <a:r>
              <a:rPr sz="1800" dirty="0" err="1"/>
              <a:t>Rental_BHFL</a:t>
            </a:r>
            <a:r>
              <a:rPr sz="1800" dirty="0"/>
              <a:t> together ~82% of known selections.</a:t>
            </a:r>
          </a:p>
          <a:p>
            <a:r>
              <a:rPr sz="1800" dirty="0"/>
              <a:t>“Price” and “Plan” pages drive decisions; amenities/location are secondary.</a:t>
            </a:r>
          </a:p>
          <a:p>
            <a:r>
              <a:rPr sz="1800" dirty="0"/>
              <a:t>High‑quality funnel: ~64% site visit done; ~57% website visitors (subset).</a:t>
            </a:r>
          </a:p>
          <a:p>
            <a:r>
              <a:rPr sz="1800" dirty="0"/>
              <a:t>NRIs from Singapore/US are strong near‑term wins.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Age: 36–45 = ~62% of known; Gender: ~71% male (n=49).</a:t>
            </a:r>
          </a:p>
          <a:p>
            <a:r>
              <a:rPr sz="1800" dirty="0"/>
              <a:t>Country (overall): India ~53%, US ~27%; high‑engagement subset: Singapore ~ India.</a:t>
            </a:r>
          </a:p>
          <a:p>
            <a:r>
              <a:rPr sz="1800" dirty="0"/>
              <a:t>Sources: Web Lead ~36%, WhatsApp ~12%, Customer Referral ~12%, Walk‑in ~10%.</a:t>
            </a:r>
          </a:p>
          <a:p>
            <a:r>
              <a:rPr sz="1800" dirty="0"/>
              <a:t>Offer mix (n≈34): BHFL_80 ~41%, </a:t>
            </a:r>
            <a:r>
              <a:rPr sz="1800" dirty="0" err="1"/>
              <a:t>Rental_BHFL</a:t>
            </a:r>
            <a:r>
              <a:rPr sz="1800" dirty="0"/>
              <a:t> ~41% (others single‑digit).</a:t>
            </a:r>
          </a:p>
          <a:p>
            <a:r>
              <a:rPr sz="1800" dirty="0"/>
              <a:t>Avg page time (sec): PRICE ~463, PLAN ~337, HOME ~362; LOCATION/MEDIA ~100; AMENITIES/SPECS &lt;50.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Ideal Customer 1 – Price‑to‑EMI Value Seekers (36–45, India)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Profile: Mid</a:t>
            </a:r>
            <a:r>
              <a:rPr lang="en-US" sz="1800" dirty="0"/>
              <a:t>-</a:t>
            </a:r>
            <a:r>
              <a:rPr sz="1800" dirty="0"/>
              <a:t>senior tech/managerial upgraders; site‑visit done/ready.</a:t>
            </a:r>
          </a:p>
          <a:p>
            <a:r>
              <a:rPr sz="1800" dirty="0"/>
              <a:t>Behavior: Heavy PRICE &amp; PLAN; 'Price‑focused'; High/Medium web tier.</a:t>
            </a:r>
          </a:p>
          <a:p>
            <a:r>
              <a:rPr sz="1800" dirty="0"/>
              <a:t>Offer: BHFL_80 or </a:t>
            </a:r>
            <a:r>
              <a:rPr sz="1800" dirty="0" err="1"/>
              <a:t>Rental_BHFL</a:t>
            </a:r>
            <a:r>
              <a:rPr sz="1800" dirty="0"/>
              <a:t>.</a:t>
            </a:r>
          </a:p>
          <a:p>
            <a:r>
              <a:rPr sz="1800" dirty="0"/>
              <a:t>Nudge: Two‑path cost sheet for 1695/1870 at ₹9,999/</a:t>
            </a:r>
            <a:r>
              <a:rPr sz="1800" dirty="0" err="1"/>
              <a:t>sq.ft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Ideal Customer 2 – NRI Value Preservers (31–45, SG/US)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Profile: DINKs/individuals seeking INR exposure with low hassle.</a:t>
            </a:r>
          </a:p>
          <a:p>
            <a:r>
              <a:rPr sz="1800" dirty="0"/>
              <a:t>Behavior: High digital depth; WhatsApp first; IST‑evening slots.</a:t>
            </a:r>
          </a:p>
          <a:p>
            <a:r>
              <a:rPr sz="1800" dirty="0"/>
              <a:t>Offer: </a:t>
            </a:r>
            <a:r>
              <a:rPr sz="1800" dirty="0" err="1"/>
              <a:t>Rental_BHFL</a:t>
            </a:r>
            <a:r>
              <a:rPr sz="1800" dirty="0"/>
              <a:t> + documentation/</a:t>
            </a:r>
            <a:r>
              <a:rPr sz="1800" dirty="0" err="1"/>
              <a:t>PoA</a:t>
            </a:r>
            <a:r>
              <a:rPr sz="1800" dirty="0"/>
              <a:t> + rental mgmt.</a:t>
            </a:r>
          </a:p>
          <a:p>
            <a:r>
              <a:rPr sz="1800" dirty="0"/>
              <a:t>Nudge: Currency view cost sheet + rental yield + video tour.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Ideal Customer 3 – Layout‑First Professional Couples (31–40, India)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Profile: Compare plans; justify on layout + high‑floor value.</a:t>
            </a:r>
          </a:p>
          <a:p>
            <a:r>
              <a:rPr sz="1800" dirty="0"/>
              <a:t>Behavior: PLAN &gt; AMENITIES/LOCATION; medium‑high web tier.</a:t>
            </a:r>
          </a:p>
          <a:p>
            <a:r>
              <a:rPr sz="1800" dirty="0"/>
              <a:t>Offer: BHFL_80 with high‑floor positioning.</a:t>
            </a:r>
          </a:p>
          <a:p>
            <a:r>
              <a:rPr sz="1800" dirty="0"/>
              <a:t>Nudge: 1695 vs 1870 plan cards + instant unit compare.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Playbook – Do This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456" y="3663108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Prioritize &amp; Route</a:t>
            </a:r>
          </a:p>
          <a:p>
            <a:pPr lvl="1"/>
            <a:r>
              <a:rPr dirty="0"/>
              <a:t>Tier A: High/Medium web + Price‑focused + Site Visit Done → Finance pitch first.</a:t>
            </a:r>
          </a:p>
          <a:p>
            <a:pPr lvl="1"/>
            <a:r>
              <a:rPr dirty="0"/>
              <a:t>Tier B: Layout‑focused without site visit → Virtual tour + slot booking.</a:t>
            </a:r>
          </a:p>
          <a:p>
            <a:pPr lvl="1"/>
            <a:r>
              <a:rPr dirty="0"/>
              <a:t>Tier C: SG/US NRIs → </a:t>
            </a:r>
            <a:r>
              <a:rPr dirty="0" err="1"/>
              <a:t>Rental_BHFL</a:t>
            </a:r>
            <a:r>
              <a:rPr dirty="0"/>
              <a:t> deck + </a:t>
            </a:r>
            <a:r>
              <a:rPr dirty="0" err="1"/>
              <a:t>timezone</a:t>
            </a:r>
            <a:r>
              <a:rPr dirty="0"/>
              <a:t>‑friendly calendar.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456" y="1714201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Collateral, Channels, Offers</a:t>
            </a:r>
          </a:p>
          <a:p>
            <a:pPr lvl="1"/>
            <a:r>
              <a:rPr dirty="0"/>
              <a:t>Collateral: Two‑path cost sheet (BHFL_80 vs Rental_BHFL).</a:t>
            </a:r>
          </a:p>
          <a:p>
            <a:pPr lvl="1"/>
            <a:r>
              <a:rPr dirty="0"/>
              <a:t>Channels: Web + WhatsApp follow‑ups reflecting last high‑time page.</a:t>
            </a:r>
          </a:p>
          <a:p>
            <a:pPr lvl="1"/>
            <a:r>
              <a:rPr dirty="0"/>
              <a:t>Offer Packaging: Lead with BHFL_80 and Rental_BHFL; avoid dilution.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Risks /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gaps (age/offer blanks) → collect at call start.</a:t>
            </a:r>
          </a:p>
          <a:p>
            <a:r>
              <a:rPr sz="1800" dirty="0"/>
              <a:t>Lead with numbers (PRICE/PLAN) rather than lifestyle.</a:t>
            </a:r>
          </a:p>
          <a:p>
            <a:r>
              <a:rPr sz="1800" dirty="0"/>
              <a:t>Maintain price parity messaging: ₹9,999/sq.ft for 1695.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594</Words>
  <Application>Microsoft Macintosh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ASBL Loft – Buyer Targeting Summary</vt:lpstr>
      <vt:lpstr>Summary</vt:lpstr>
      <vt:lpstr>Key Numbers</vt:lpstr>
      <vt:lpstr>Ideal Customer 1 – Price‑to‑EMI Value Seekers (36–45, India)</vt:lpstr>
      <vt:lpstr>Ideal Customer 2 – NRI Value Preservers (31–45, SG/US)</vt:lpstr>
      <vt:lpstr>Ideal Customer 3 – Layout‑First Professional Couples (31–40, India)</vt:lpstr>
      <vt:lpstr>Action Playbook – Do This Now</vt:lpstr>
      <vt:lpstr>Risks / Guardrails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Lekha Nigam</cp:lastModifiedBy>
  <cp:revision>3</cp:revision>
  <dcterms:created xsi:type="dcterms:W3CDTF">2013-01-27T09:14:16Z</dcterms:created>
  <dcterms:modified xsi:type="dcterms:W3CDTF">2025-09-05T11:27:14Z</dcterms:modified>
  <cp:category/>
</cp:coreProperties>
</file>