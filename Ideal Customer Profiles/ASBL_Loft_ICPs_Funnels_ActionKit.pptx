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67"/>
  </p:normalViewPr>
  <p:slideViewPr>
    <p:cSldViewPr snapToGrid="0" snapToObjects="1">
      <p:cViewPr varScale="1">
        <p:scale>
          <a:sx n="126" d="100"/>
          <a:sy n="126" d="100"/>
        </p:scale>
        <p:origin x="232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kha Nigam" userId="53da91a1-091e-4e51-aa22-f3cb94840b64" providerId="ADAL" clId="{8A865DCA-6EDE-5467-81F3-7E6D6920FAA2}"/>
    <pc:docChg chg="undo custSel modSld">
      <pc:chgData name="Lekha Nigam" userId="53da91a1-091e-4e51-aa22-f3cb94840b64" providerId="ADAL" clId="{8A865DCA-6EDE-5467-81F3-7E6D6920FAA2}" dt="2025-09-05T08:53:57.552" v="19" actId="20577"/>
      <pc:docMkLst>
        <pc:docMk/>
      </pc:docMkLst>
      <pc:sldChg chg="modSp mod">
        <pc:chgData name="Lekha Nigam" userId="53da91a1-091e-4e51-aa22-f3cb94840b64" providerId="ADAL" clId="{8A865DCA-6EDE-5467-81F3-7E6D6920FAA2}" dt="2025-09-05T08:53:57.552" v="19" actId="20577"/>
        <pc:sldMkLst>
          <pc:docMk/>
          <pc:sldMk cId="0" sldId="258"/>
        </pc:sldMkLst>
        <pc:graphicFrameChg chg="modGraphic">
          <ac:chgData name="Lekha Nigam" userId="53da91a1-091e-4e51-aa22-f3cb94840b64" providerId="ADAL" clId="{8A865DCA-6EDE-5467-81F3-7E6D6920FAA2}" dt="2025-09-05T08:53:57.552" v="19" actId="20577"/>
          <ac:graphicFrameMkLst>
            <pc:docMk/>
            <pc:sldMk cId="0" sldId="258"/>
            <ac:graphicFrameMk id="3" creationId="{00000000-0000-0000-0000-000000000000}"/>
          </ac:graphicFrameMkLst>
        </pc:graphicFrameChg>
      </pc:sldChg>
      <pc:sldChg chg="modSp mod">
        <pc:chgData name="Lekha Nigam" userId="53da91a1-091e-4e51-aa22-f3cb94840b64" providerId="ADAL" clId="{8A865DCA-6EDE-5467-81F3-7E6D6920FAA2}" dt="2025-09-05T08:49:31.890" v="17" actId="20577"/>
        <pc:sldMkLst>
          <pc:docMk/>
          <pc:sldMk cId="0" sldId="259"/>
        </pc:sldMkLst>
        <pc:graphicFrameChg chg="modGraphic">
          <ac:chgData name="Lekha Nigam" userId="53da91a1-091e-4e51-aa22-f3cb94840b64" providerId="ADAL" clId="{8A865DCA-6EDE-5467-81F3-7E6D6920FAA2}" dt="2025-09-05T08:49:31.890" v="17" actId="20577"/>
          <ac:graphicFrameMkLst>
            <pc:docMk/>
            <pc:sldMk cId="0" sldId="259"/>
            <ac:graphicFrameMk id="3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33916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/>
            <a:r>
              <a:rPr sz="5400" b="1" dirty="0">
                <a:solidFill>
                  <a:srgbClr val="FFFFFF"/>
                </a:solidFill>
              </a:rPr>
              <a:t>ASBL Loft – ICPs, Funnels &amp; Action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10440" y="3028890"/>
            <a:ext cx="745595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>
                <a:solidFill>
                  <a:srgbClr val="14181C"/>
                </a:solidFill>
              </a:rPr>
              <a:t>Data-backed from web behavior, pivots, and call summary.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A993A-0049-5D9F-F2D8-1E334BDDC39D}"/>
              </a:ext>
            </a:extLst>
          </p:cNvPr>
          <p:cNvSpPr txBox="1"/>
          <p:nvPr/>
        </p:nvSpPr>
        <p:spPr>
          <a:xfrm>
            <a:off x="3044768" y="3686778"/>
            <a:ext cx="5987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Who will buy now, with which offers, and what to do next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8585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4181C"/>
                </a:solidFill>
              </a:rPr>
              <a:t>• </a:t>
            </a:r>
            <a:r>
              <a:rPr sz="2000" b="1" dirty="0">
                <a:solidFill>
                  <a:srgbClr val="14181C"/>
                </a:solidFill>
              </a:rPr>
              <a:t>Top events show strong price interest</a:t>
            </a:r>
            <a:r>
              <a:rPr sz="2000" dirty="0">
                <a:solidFill>
                  <a:srgbClr val="14181C"/>
                </a:solidFill>
              </a:rPr>
              <a:t>: Top View (count &amp; time): PRICE$PRICE_SHEET$UNLOCKED_PRICE_PARTICULARS; Top Click: URL_HIT.</a:t>
            </a:r>
            <a:endParaRPr lang="en-US" sz="2000" dirty="0">
              <a:solidFill>
                <a:srgbClr val="14181C"/>
              </a:solidFill>
            </a:endParaRPr>
          </a:p>
          <a:p>
            <a:endParaRPr sz="2000" dirty="0">
              <a:solidFill>
                <a:srgbClr val="14181C"/>
              </a:solidFill>
            </a:endParaRPr>
          </a:p>
          <a:p>
            <a:r>
              <a:rPr sz="2000" b="1" dirty="0">
                <a:solidFill>
                  <a:srgbClr val="14181C"/>
                </a:solidFill>
              </a:rPr>
              <a:t>• Time-on-page (s): </a:t>
            </a:r>
            <a:r>
              <a:rPr sz="2000" dirty="0">
                <a:solidFill>
                  <a:srgbClr val="14181C"/>
                </a:solidFill>
              </a:rPr>
              <a:t>PRICE 11,166.69s; HOME 8,686.73s; PLAN 8,100.15s; MEDIA 2,521.83s; LOCATION 2,457.85s; AMENITIES 1,163.41s; SPECIFICATIONS 1,115.84s.</a:t>
            </a:r>
            <a:endParaRPr lang="en-US" sz="2000" dirty="0">
              <a:solidFill>
                <a:srgbClr val="14181C"/>
              </a:solidFill>
            </a:endParaRPr>
          </a:p>
          <a:p>
            <a:endParaRPr sz="2000" dirty="0">
              <a:solidFill>
                <a:srgbClr val="14181C"/>
              </a:solidFill>
            </a:endParaRPr>
          </a:p>
          <a:p>
            <a:r>
              <a:rPr sz="2000" b="1" dirty="0">
                <a:solidFill>
                  <a:srgbClr val="14181C"/>
                </a:solidFill>
              </a:rPr>
              <a:t>• CTR</a:t>
            </a:r>
            <a:r>
              <a:rPr sz="2000" dirty="0">
                <a:solidFill>
                  <a:srgbClr val="14181C"/>
                </a:solidFill>
              </a:rPr>
              <a:t>: MEDIA 1.44; PLAN 0.55; LOCATION 0.395; HOME 0.174; PRICE 0.144; SPEC 0.141; AMENITIES 0.063. Plans convert better than Price/Home.</a:t>
            </a:r>
            <a:endParaRPr lang="en-US" sz="2000" dirty="0">
              <a:solidFill>
                <a:srgbClr val="14181C"/>
              </a:solidFill>
            </a:endParaRPr>
          </a:p>
          <a:p>
            <a:endParaRPr sz="2000" dirty="0">
              <a:solidFill>
                <a:srgbClr val="14181C"/>
              </a:solidFill>
            </a:endParaRPr>
          </a:p>
          <a:p>
            <a:r>
              <a:rPr sz="2000" dirty="0">
                <a:solidFill>
                  <a:srgbClr val="14181C"/>
                </a:solidFill>
              </a:rPr>
              <a:t>• </a:t>
            </a:r>
            <a:r>
              <a:rPr sz="2000" b="1" dirty="0">
                <a:solidFill>
                  <a:srgbClr val="14181C"/>
                </a:solidFill>
              </a:rPr>
              <a:t>Lead focus</a:t>
            </a:r>
            <a:r>
              <a:rPr sz="2000" dirty="0">
                <a:solidFill>
                  <a:srgbClr val="14181C"/>
                </a:solidFill>
              </a:rPr>
              <a:t>: Price-focused 12; Home-focused 7; Layout-focused 4; Location-focused 1.</a:t>
            </a:r>
            <a:endParaRPr lang="en-US" sz="2000" dirty="0">
              <a:solidFill>
                <a:srgbClr val="14181C"/>
              </a:solidFill>
            </a:endParaRPr>
          </a:p>
          <a:p>
            <a:endParaRPr sz="2000" dirty="0">
              <a:solidFill>
                <a:srgbClr val="14181C"/>
              </a:solidFill>
            </a:endParaRPr>
          </a:p>
          <a:p>
            <a:r>
              <a:rPr sz="2000" dirty="0">
                <a:solidFill>
                  <a:srgbClr val="14181C"/>
                </a:solidFill>
              </a:rPr>
              <a:t>• </a:t>
            </a:r>
            <a:r>
              <a:rPr sz="2000" b="1" dirty="0">
                <a:solidFill>
                  <a:srgbClr val="14181C"/>
                </a:solidFill>
              </a:rPr>
              <a:t>Site-visit rate is strong; many long-duration calls.</a:t>
            </a:r>
            <a:endParaRPr lang="en-US" sz="2000" b="1" dirty="0">
              <a:solidFill>
                <a:srgbClr val="14181C"/>
              </a:solidFill>
            </a:endParaRPr>
          </a:p>
          <a:p>
            <a:endParaRPr sz="2000" dirty="0">
              <a:solidFill>
                <a:srgbClr val="14181C"/>
              </a:solidFill>
            </a:endParaRPr>
          </a:p>
          <a:p>
            <a:r>
              <a:rPr sz="2000" dirty="0">
                <a:solidFill>
                  <a:srgbClr val="14181C"/>
                </a:solidFill>
              </a:rPr>
              <a:t>• </a:t>
            </a:r>
            <a:r>
              <a:rPr sz="2000" b="1" dirty="0">
                <a:solidFill>
                  <a:srgbClr val="14181C"/>
                </a:solidFill>
              </a:rPr>
              <a:t>Funding and offers</a:t>
            </a:r>
            <a:r>
              <a:rPr sz="2000" dirty="0">
                <a:solidFill>
                  <a:srgbClr val="14181C"/>
                </a:solidFill>
              </a:rPr>
              <a:t>: Loan 43; Self 2; (blanks 4); Offers mix: BHFL_80 ~41%; </a:t>
            </a:r>
            <a:r>
              <a:rPr sz="2000" dirty="0" err="1">
                <a:solidFill>
                  <a:srgbClr val="14181C"/>
                </a:solidFill>
              </a:rPr>
              <a:t>Rental_BHFL</a:t>
            </a:r>
            <a:r>
              <a:rPr sz="2000" dirty="0">
                <a:solidFill>
                  <a:srgbClr val="14181C"/>
                </a:solidFill>
              </a:rPr>
              <a:t> ~41%; HDFC_80 ~6%; Self ~6%; BHFL_85 ~3%; No Pre-EMI ~3%.</a:t>
            </a:r>
            <a:endParaRPr lang="en-US" sz="2000" dirty="0">
              <a:solidFill>
                <a:srgbClr val="14181C"/>
              </a:solidFill>
            </a:endParaRPr>
          </a:p>
          <a:p>
            <a:endParaRPr sz="2000" dirty="0">
              <a:solidFill>
                <a:srgbClr val="14181C"/>
              </a:solidFill>
            </a:endParaRPr>
          </a:p>
          <a:p>
            <a:r>
              <a:rPr sz="2000" dirty="0">
                <a:solidFill>
                  <a:srgbClr val="14181C"/>
                </a:solidFill>
              </a:rPr>
              <a:t>• </a:t>
            </a:r>
            <a:r>
              <a:rPr sz="2000" b="1" dirty="0">
                <a:solidFill>
                  <a:srgbClr val="14181C"/>
                </a:solidFill>
              </a:rPr>
              <a:t>Geography</a:t>
            </a:r>
            <a:r>
              <a:rPr sz="2000" dirty="0">
                <a:solidFill>
                  <a:srgbClr val="14181C"/>
                </a:solidFill>
              </a:rPr>
              <a:t>: India 26; USA 13; smaller UAE/UK/Singapore/Germany/Norway.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r>
              <a:rPr sz="2800" b="1" dirty="0">
                <a:solidFill>
                  <a:srgbClr val="FFFFFF"/>
                </a:solidFill>
              </a:rPr>
              <a:t>Funnel by Source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IN" sz="2800" b="1" dirty="0">
                <a:solidFill>
                  <a:srgbClr val="FFFFFF"/>
                </a:solidFill>
              </a:rPr>
              <a:t>(Aug-Sep)</a:t>
            </a:r>
            <a:endParaRPr sz="2800" b="1" dirty="0">
              <a:solidFill>
                <a:srgbClr val="FFFFFF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3BB598-5FA5-6BB0-ADBD-11F8756CB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633178"/>
              </p:ext>
            </p:extLst>
          </p:nvPr>
        </p:nvGraphicFramePr>
        <p:xfrm>
          <a:off x="587185" y="1196788"/>
          <a:ext cx="10372167" cy="4929383"/>
        </p:xfrm>
        <a:graphic>
          <a:graphicData uri="http://schemas.openxmlformats.org/drawingml/2006/table">
            <a:tbl>
              <a:tblPr/>
              <a:tblGrid>
                <a:gridCol w="1791338">
                  <a:extLst>
                    <a:ext uri="{9D8B030D-6E8A-4147-A177-3AD203B41FA5}">
                      <a16:colId xmlns:a16="http://schemas.microsoft.com/office/drawing/2014/main" val="345773764"/>
                    </a:ext>
                  </a:extLst>
                </a:gridCol>
                <a:gridCol w="1400101">
                  <a:extLst>
                    <a:ext uri="{9D8B030D-6E8A-4147-A177-3AD203B41FA5}">
                      <a16:colId xmlns:a16="http://schemas.microsoft.com/office/drawing/2014/main" val="817920396"/>
                    </a:ext>
                  </a:extLst>
                </a:gridCol>
                <a:gridCol w="1350883">
                  <a:extLst>
                    <a:ext uri="{9D8B030D-6E8A-4147-A177-3AD203B41FA5}">
                      <a16:colId xmlns:a16="http://schemas.microsoft.com/office/drawing/2014/main" val="598447779"/>
                    </a:ext>
                  </a:extLst>
                </a:gridCol>
                <a:gridCol w="911663">
                  <a:extLst>
                    <a:ext uri="{9D8B030D-6E8A-4147-A177-3AD203B41FA5}">
                      <a16:colId xmlns:a16="http://schemas.microsoft.com/office/drawing/2014/main" val="2516203451"/>
                    </a:ext>
                  </a:extLst>
                </a:gridCol>
                <a:gridCol w="1283525">
                  <a:extLst>
                    <a:ext uri="{9D8B030D-6E8A-4147-A177-3AD203B41FA5}">
                      <a16:colId xmlns:a16="http://schemas.microsoft.com/office/drawing/2014/main" val="3706704355"/>
                    </a:ext>
                  </a:extLst>
                </a:gridCol>
                <a:gridCol w="1247538">
                  <a:extLst>
                    <a:ext uri="{9D8B030D-6E8A-4147-A177-3AD203B41FA5}">
                      <a16:colId xmlns:a16="http://schemas.microsoft.com/office/drawing/2014/main" val="1370897425"/>
                    </a:ext>
                  </a:extLst>
                </a:gridCol>
                <a:gridCol w="1151575">
                  <a:extLst>
                    <a:ext uri="{9D8B030D-6E8A-4147-A177-3AD203B41FA5}">
                      <a16:colId xmlns:a16="http://schemas.microsoft.com/office/drawing/2014/main" val="3459118660"/>
                    </a:ext>
                  </a:extLst>
                </a:gridCol>
                <a:gridCol w="1235544">
                  <a:extLst>
                    <a:ext uri="{9D8B030D-6E8A-4147-A177-3AD203B41FA5}">
                      <a16:colId xmlns:a16="http://schemas.microsoft.com/office/drawing/2014/main" val="3334808748"/>
                    </a:ext>
                  </a:extLst>
                </a:gridCol>
              </a:tblGrid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Source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Flat Blocked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Lead Initiated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New Lead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Not Interested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Post Site Visit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Pre Site Visit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Sales Closure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361170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Web Lead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2512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18258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14641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Whatsapp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373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173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6409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664092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my-gate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2406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422999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FIM Forms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186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1197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078372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Repp_tech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1097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948558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99-acres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262359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Phone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947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482394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Channel Partner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902693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aurum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067842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Executive Referral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218626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builders-lead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170260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Walk In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88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862930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Event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157500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repp-tech-sv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350800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magic-bricks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608158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Self Generated Lead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779964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Lead Referral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087426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Customer Referral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766971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Whatsapp GoogleAds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520419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Social Media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016985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Whatsapp FIMAds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80092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Grand Total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1683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3020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33302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235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224" marR="9224" marT="92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2954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r>
              <a:rPr sz="2800" b="1" dirty="0">
                <a:solidFill>
                  <a:srgbClr val="FFFFFF"/>
                </a:solidFill>
              </a:rPr>
              <a:t>Overall Funnel Snapshot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IN" sz="2800" b="1" dirty="0">
                <a:solidFill>
                  <a:srgbClr val="FFFFFF"/>
                </a:solidFill>
              </a:rPr>
              <a:t>(Aug-Sep)</a:t>
            </a:r>
            <a:endParaRPr sz="2800" b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726944"/>
              </p:ext>
            </p:extLst>
          </p:nvPr>
        </p:nvGraphicFramePr>
        <p:xfrm>
          <a:off x="457200" y="1005840"/>
          <a:ext cx="54864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91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C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C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Leads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4710</a:t>
                      </a:r>
                    </a:p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NL: 3025</a:t>
                      </a:r>
                    </a:p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LI: 1683</a:t>
                      </a:r>
                      <a:endParaRPr sz="1500" dirty="0">
                        <a:solidFill>
                          <a:srgbClr val="14181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Site Visits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341</a:t>
                      </a:r>
                    </a:p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PreSV: 238</a:t>
                      </a:r>
                    </a:p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PostSV: 103</a:t>
                      </a:r>
                      <a:endParaRPr sz="1500" dirty="0">
                        <a:solidFill>
                          <a:srgbClr val="14181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Closures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10</a:t>
                      </a:r>
                      <a:endParaRPr sz="1500" dirty="0">
                        <a:solidFill>
                          <a:srgbClr val="14181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Flat 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24</a:t>
                      </a:r>
                      <a:endParaRPr sz="1500" dirty="0">
                        <a:solidFill>
                          <a:srgbClr val="14181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Not Interested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33294</a:t>
                      </a:r>
                      <a:endParaRPr sz="1500" dirty="0">
                        <a:solidFill>
                          <a:srgbClr val="14181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WhatsApp Performance (</a:t>
            </a:r>
            <a:r>
              <a:rPr lang="en-US" sz="2800" b="1" dirty="0">
                <a:solidFill>
                  <a:srgbClr val="FFFFFF"/>
                </a:solidFill>
              </a:rPr>
              <a:t>Aug-Sep</a:t>
            </a:r>
            <a:r>
              <a:rPr sz="2800" b="1" dirty="0">
                <a:solidFill>
                  <a:srgbClr val="FFFFFF"/>
                </a:solidFill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903452"/>
              </p:ext>
            </p:extLst>
          </p:nvPr>
        </p:nvGraphicFramePr>
        <p:xfrm>
          <a:off x="457200" y="1005840"/>
          <a:ext cx="54864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91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C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4181C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Leads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549</a:t>
                      </a:r>
                    </a:p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New Lead: 175</a:t>
                      </a:r>
                    </a:p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Lead Initiated: 374</a:t>
                      </a:r>
                      <a:endParaRPr sz="1500" dirty="0">
                        <a:solidFill>
                          <a:srgbClr val="14181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Site Visits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146</a:t>
                      </a:r>
                    </a:p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PreSV: 133</a:t>
                      </a:r>
                    </a:p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PostSV: 13</a:t>
                      </a:r>
                      <a:endParaRPr sz="1500" dirty="0">
                        <a:solidFill>
                          <a:srgbClr val="14181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Closures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2</a:t>
                      </a:r>
                      <a:endParaRPr sz="1500" dirty="0">
                        <a:solidFill>
                          <a:srgbClr val="14181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Flat 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4</a:t>
                      </a:r>
                      <a:endParaRPr sz="1500" dirty="0">
                        <a:solidFill>
                          <a:srgbClr val="14181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Not Interested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14181C"/>
                          </a:solidFill>
                        </a:rPr>
                        <a:t>6403</a:t>
                      </a:r>
                      <a:endParaRPr sz="1500" dirty="0">
                        <a:solidFill>
                          <a:srgbClr val="14181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Went Right (LOFT)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858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4181C"/>
                </a:solidFill>
              </a:rPr>
              <a:t>• High engagement on Price and strong Plan CTR</a:t>
            </a:r>
            <a:r>
              <a:rPr lang="en-US" sz="2000" dirty="0">
                <a:solidFill>
                  <a:srgbClr val="14181C"/>
                </a:solidFill>
              </a:rPr>
              <a:t> - </a:t>
            </a:r>
            <a:r>
              <a:rPr sz="2000" dirty="0">
                <a:solidFill>
                  <a:srgbClr val="14181C"/>
                </a:solidFill>
              </a:rPr>
              <a:t>users are evaluating seriously.</a:t>
            </a:r>
          </a:p>
          <a:p>
            <a:r>
              <a:rPr sz="2000" dirty="0">
                <a:solidFill>
                  <a:srgbClr val="14181C"/>
                </a:solidFill>
              </a:rPr>
              <a:t>• Good site-visit completion; many long calls indicating depth of interest.</a:t>
            </a:r>
          </a:p>
          <a:p>
            <a:r>
              <a:rPr sz="2000" dirty="0">
                <a:solidFill>
                  <a:srgbClr val="14181C"/>
                </a:solidFill>
              </a:rPr>
              <a:t>• Loan-led offers (BHFL_80/HDFC_80) and Rental_BHFL resonated.</a:t>
            </a:r>
          </a:p>
          <a:p>
            <a:r>
              <a:rPr sz="2000" dirty="0">
                <a:solidFill>
                  <a:srgbClr val="14181C"/>
                </a:solidFill>
              </a:rPr>
              <a:t>• NRI interest present (USA-heavy).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Went Wrong (LOFT)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858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4181C"/>
                </a:solidFill>
              </a:rPr>
              <a:t>• Low CTR on Price and Home</a:t>
            </a:r>
            <a:r>
              <a:rPr lang="en-US" sz="2000" dirty="0">
                <a:solidFill>
                  <a:srgbClr val="14181C"/>
                </a:solidFill>
              </a:rPr>
              <a:t> - </a:t>
            </a:r>
            <a:r>
              <a:rPr sz="2000" dirty="0">
                <a:solidFill>
                  <a:srgbClr val="14181C"/>
                </a:solidFill>
              </a:rPr>
              <a:t>friction after viewing price.</a:t>
            </a:r>
          </a:p>
          <a:p>
            <a:r>
              <a:rPr sz="2000" dirty="0">
                <a:solidFill>
                  <a:srgbClr val="14181C"/>
                </a:solidFill>
              </a:rPr>
              <a:t>• Amenities/Specifications under-used</a:t>
            </a:r>
            <a:r>
              <a:rPr lang="en-US" sz="2000" dirty="0">
                <a:solidFill>
                  <a:srgbClr val="14181C"/>
                </a:solidFill>
              </a:rPr>
              <a:t>, </a:t>
            </a:r>
            <a:r>
              <a:rPr sz="2000" dirty="0">
                <a:solidFill>
                  <a:srgbClr val="14181C"/>
                </a:solidFill>
              </a:rPr>
              <a:t>value not communicated simply.</a:t>
            </a:r>
          </a:p>
          <a:p>
            <a:r>
              <a:rPr sz="2000" dirty="0">
                <a:solidFill>
                  <a:srgbClr val="14181C"/>
                </a:solidFill>
              </a:rPr>
              <a:t>• Price-sheet unlock flow likely adds steps; limited inline EMI actions.</a:t>
            </a:r>
          </a:p>
          <a:p>
            <a:r>
              <a:rPr sz="2000" dirty="0">
                <a:solidFill>
                  <a:srgbClr val="14181C"/>
                </a:solidFill>
              </a:rPr>
              <a:t>• Location proof (commute minutes) not front-and-center on 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ICP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296011"/>
              </p:ext>
            </p:extLst>
          </p:nvPr>
        </p:nvGraphicFramePr>
        <p:xfrm>
          <a:off x="397099" y="1116873"/>
          <a:ext cx="11397496" cy="5414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3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40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6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4181C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4181C"/>
                          </a:solidFill>
                        </a:rPr>
                        <a:t>Profile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4181C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4181C"/>
                          </a:solidFill>
                        </a:rPr>
                        <a:t>Offer Fit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4181C"/>
                          </a:solidFill>
                        </a:rPr>
                        <a:t>Primary Nudge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4181C"/>
                          </a:solidFill>
                        </a:rPr>
                        <a:t>Priority Channels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14181C"/>
                          </a:solidFill>
                        </a:rPr>
                        <a:t>Price-to-EMI Value Seekers (36–45, 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Mid–senior tech/managerial upgraders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PRICE-heavy; EMI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4181C"/>
                          </a:solidFill>
                        </a:rPr>
                        <a:t>BHFL_80 / HDFC_80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Two-path cost sheet; 1695 vs 1870 @ ₹9,999/sq.ft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Web + WhatsApp +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14181C"/>
                          </a:solidFill>
                        </a:rPr>
                        <a:t>Layout-First Professional Couples (31–40, 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Family upgraders choosing 1695 vs 1870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PLAN engagement; layout compare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BHFL_80 + small closing-cost help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Plan cards + furniture overlay; 2 floors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Web + virtual tour → site visit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14181C"/>
                          </a:solidFill>
                        </a:rPr>
                        <a:t>NRI Value Preservers (31–45, USA/SG/UAE)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4181C"/>
                          </a:solidFill>
                        </a:rPr>
                        <a:t>NRIs seeking INR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Deep digital; rent/PM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Rental_BHFL + POA +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Currency-view yield + video tour + PM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Web/WhatsApp; timezone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14181C"/>
                          </a:solidFill>
                        </a:rPr>
                        <a:t>Location Validators (India commuters)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Commute/school 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LOCATION checks; minutes compare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Standard loan; small closing help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Door-to-desk + 3-school list; timed visit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WhatsApp maps + 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14181C"/>
                          </a:solidFill>
                        </a:rPr>
                        <a:t>Call-Driven Deciders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Long/many calls; closure-oriented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Direct questions; fast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Priority processing; 48–72h 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One-pager + reservation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Direct call + WhatsApp docs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0712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14181C"/>
                          </a:solidFill>
                        </a:rPr>
                        <a:t>Exploratory Generalists (HOME-heavy)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Early research; choice overload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Skim sections; low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Pre-sanction help; quick 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4181C"/>
                          </a:solidFill>
                        </a:rPr>
                        <a:t>2-min quiz → personal one-pager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4181C"/>
                          </a:solidFill>
                        </a:rPr>
                        <a:t>Website → WhatsApp → short 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Action Kit – Digital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858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4181C"/>
                </a:solidFill>
              </a:rPr>
              <a:t>• Route HOME visitors into Plan or Price one-pagers.</a:t>
            </a:r>
          </a:p>
          <a:p>
            <a:r>
              <a:rPr sz="2000" dirty="0">
                <a:solidFill>
                  <a:srgbClr val="14181C"/>
                </a:solidFill>
              </a:rPr>
              <a:t>• Put inline EMI + cost-sheet share (WhatsApp) above the fold on Price.</a:t>
            </a:r>
          </a:p>
          <a:p>
            <a:r>
              <a:rPr sz="2000" dirty="0">
                <a:solidFill>
                  <a:srgbClr val="14181C"/>
                </a:solidFill>
              </a:rPr>
              <a:t>• Retarget by segment: Price-first vs Layout-first creatives and landing pages.</a:t>
            </a:r>
          </a:p>
          <a:p>
            <a:r>
              <a:rPr sz="2000" dirty="0">
                <a:solidFill>
                  <a:srgbClr val="14181C"/>
                </a:solidFill>
              </a:rPr>
              <a:t>• Enable WhatsApp lead-source tagging end-to-end for closure attribution.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Action Kit – </a:t>
            </a:r>
            <a:r>
              <a:rPr lang="en-US" sz="2800" b="1" dirty="0">
                <a:solidFill>
                  <a:srgbClr val="FFFFFF"/>
                </a:solidFill>
              </a:rPr>
              <a:t>WhatsApp &amp; Sales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4181C"/>
                </a:solidFill>
              </a:rPr>
              <a:t>• Send two-path cost sheet (BHFL_80 vs Rental_BHFL) with 2 unit options.</a:t>
            </a:r>
          </a:p>
          <a:p>
            <a:r>
              <a:rPr sz="2000" dirty="0">
                <a:solidFill>
                  <a:srgbClr val="14181C"/>
                </a:solidFill>
              </a:rPr>
              <a:t>• For Layout-first, share annotated plan video + two real floors; book timed visit.</a:t>
            </a:r>
          </a:p>
          <a:p>
            <a:r>
              <a:rPr sz="2000" dirty="0">
                <a:solidFill>
                  <a:srgbClr val="14181C"/>
                </a:solidFill>
              </a:rPr>
              <a:t>• For NRIs, send yield table + PM terms + POA checklist; offer </a:t>
            </a:r>
            <a:r>
              <a:rPr sz="2000" dirty="0" err="1">
                <a:solidFill>
                  <a:srgbClr val="14181C"/>
                </a:solidFill>
              </a:rPr>
              <a:t>timezone</a:t>
            </a:r>
            <a:r>
              <a:rPr sz="2000" dirty="0">
                <a:solidFill>
                  <a:srgbClr val="14181C"/>
                </a:solidFill>
              </a:rPr>
              <a:t> call slots.</a:t>
            </a:r>
          </a:p>
          <a:p>
            <a:r>
              <a:rPr sz="2000" dirty="0">
                <a:solidFill>
                  <a:srgbClr val="14181C"/>
                </a:solidFill>
              </a:rPr>
              <a:t>• Fast-track pack for hot callers: 48–72h reservation + sanction checklist.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Action Kit –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4181C"/>
                </a:solidFill>
              </a:rPr>
              <a:t>• Create 1695 vs 1870 side-by-side cards with furniture overlay and ventilation notes.</a:t>
            </a:r>
          </a:p>
          <a:p>
            <a:r>
              <a:rPr sz="2000">
                <a:solidFill>
                  <a:srgbClr val="14181C"/>
                </a:solidFill>
              </a:rPr>
              <a:t>• Add commute time cards and ‘3 schools within 15 min’ blocks on Location page.</a:t>
            </a:r>
          </a:p>
          <a:p>
            <a:r>
              <a:rPr sz="2000">
                <a:solidFill>
                  <a:srgbClr val="14181C"/>
                </a:solidFill>
              </a:rPr>
              <a:t>• Short EMI explainer and ‘What changes with each floor?’ price delta widget.</a:t>
            </a:r>
          </a:p>
          <a:p>
            <a:r>
              <a:rPr sz="2000">
                <a:solidFill>
                  <a:srgbClr val="14181C"/>
                </a:solidFill>
              </a:rPr>
              <a:t>• Record 60–90s unit walk-throughs matched to each ICP.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1068</Words>
  <Application>Microsoft Macintosh PowerPoint</Application>
  <PresentationFormat>Widescreen</PresentationFormat>
  <Paragraphs>304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Lekha Nigam</cp:lastModifiedBy>
  <cp:revision>4</cp:revision>
  <dcterms:created xsi:type="dcterms:W3CDTF">2013-01-27T09:14:16Z</dcterms:created>
  <dcterms:modified xsi:type="dcterms:W3CDTF">2025-09-05T08:54:07Z</dcterms:modified>
  <cp:category/>
</cp:coreProperties>
</file>